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svg" ContentType="image/svg+xml"/>
  <Override PartName="/ppt/media/image12.svg" ContentType="image/svg+xml"/>
  <Override PartName="/ppt/media/image14.svg" ContentType="image/svg+xml"/>
  <Override PartName="/ppt/media/image16.svg" ContentType="image/svg+xml"/>
  <Override PartName="/ppt/media/image18.svg" ContentType="image/svg+xml"/>
  <Override PartName="/ppt/media/image20.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svg" ContentType="image/svg+xml"/>
  <Override PartName="/ppt/media/image40.svg" ContentType="image/svg+xml"/>
  <Override PartName="/ppt/media/image42.svg" ContentType="image/svg+xml"/>
  <Override PartName="/ppt/media/image45.svg" ContentType="image/svg+xml"/>
  <Override PartName="/ppt/media/image47.svg" ContentType="image/svg+xml"/>
  <Override PartName="/ppt/media/image51.svg" ContentType="image/svg+xml"/>
  <Override PartName="/ppt/media/image53.svg" ContentType="image/svg+xml"/>
  <Override PartName="/ppt/media/image56.svg" ContentType="image/svg+xml"/>
  <Override PartName="/ppt/media/image58.svg" ContentType="image/svg+xml"/>
  <Override PartName="/ppt/media/image6.svg" ContentType="image/svg+xml"/>
  <Override PartName="/ppt/media/image60.svg" ContentType="image/svg+xml"/>
  <Override PartName="/ppt/media/image62.svg" ContentType="image/svg+xml"/>
  <Override PartName="/ppt/media/image64.svg" ContentType="image/svg+xml"/>
  <Override PartName="/ppt/media/image66.svg" ContentType="image/svg+xml"/>
  <Override PartName="/ppt/media/image68.svg" ContentType="image/svg+xml"/>
  <Override PartName="/ppt/media/image70.svg" ContentType="image/svg+xml"/>
  <Override PartName="/ppt/media/image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大家好，欢迎参加Food Master综合生活服务平台的项目总结汇报。今天，我们将向大家展示一个从0到1，再到N的完整项目历程，特别是我们如何将一个功能完备的单体应用，成功演进为一个现代化的微服务架构系统。这个项目不仅是一个产品，更是一次深入的软件工程实践。</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本次汇报将分为三个部分。首先，我们将介绍项目的整体情况，包括它的业务范围、我们遵循的开发规范以及所使用的技术栈。接着，也是本次汇报的重点，我们将详细回顾项目从单体架构到微服务架构的演进历程和取得的核心成果。最后，我们会对项目进行总结，并展望未来的发展方向。</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大家好，欢迎参加Food Master项目总结汇报。本次汇报将围绕项目的追溯关系、模型与代码、微服务架构设计、高可用性设计以及关键数据结论五个方面展开，系统地展示我们项目的全貌。</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首先，我们来看项目的追溯关系。我们建立了从需求到最终测试的完整追溯链，确保每一项功能都有明确的来源和验证。这张总表展示了所有9个用例从需求到E2E测试的完整映射，所有用例均已通过测试。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选取了三个代表性用例进行深入展示。首先是UC02外卖，这是状态机最复杂、涉及三方协作的用例。从需求、设计、代码实现，到单元测试、集成测试和端到端测试，我们完整地覆盖了整个业务流程，所有测试均已通过。</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第二个代表用例是UC04酒店预订。这个用例的核心是订单状态管理和评分聚合。我们同样展示了从需求到测试的完整链路，确保了酒店预订和评价功能的正确性。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第三个代表用例是UC07社区互动。这个用例主要涉及内容的发布、评论和逻辑删除。我们通过完整的测试链路，确保了社区功能的稳定性和数据的正确性。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接下来看模型与代码的演变。在单体架构中，我们使用Django Model定义了11张表，并将业务规则通过校验器编码进模型。在微服务改造中，我们对模型进行了拆分，将跨服务的外键关系降级为裸ID，避免了跨库联表，同时在服务内部保留了必要的外键关系以保证数据完整性。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在微服务架构设计中，服务划分是关键。我们将用户服务单独拆分，因为它是所有业务的基础。交易服务作为核心，状态机最复杂，因此也独立出来。最后，我们将酒店、娱乐和社区合并为生活方式服务，因为它们业务模式相似，合并可以降低运维成本。</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这张表格清晰地展示了三个微服务的职责、端口、所拥有的数据表以及对应的业务用例。所有服务通过Nginx网关统一对外暴露API，实现了请求的统一路由和管理。</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这张架构图直观地展示了我们的微服务架构。前端请求通过API网关进行路由，网关将请求分发给对应的微服务。user-service作为基础服务，被trade-service和lifestyle-service调用以获取用户信息。每个服务都有自己独立的数据库Schema，禁止跨库联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保证系统的高可用性，我们设计了分级的失败处理策略。对于高频的角色判断，我们使用JWT本地解析，避免了对user-service的依赖。对于列表页显示用户名等非核心功能，调用失败时会优雅降级，显示占位符。在聚合层，我们采用并发调用和缓存兜底策略。最后，网关层会对后端服务的故障进行统一的兜底处理，返回友好的错误信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接下来是关键数据结论部分。首先是测试结果。我们的三层自动化测试体系共包含114项单元和集成测试，以及24项微服务隔离测试，所有测试均已通过。端到端测试也覆盖了所有9个业务用例，确保了系统的整体功能正确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的CI/CD流水线包含五个阶段：质量检查、测试、构建、部署和验证。每个阶段都是下一个阶段的门禁，任何环节失败都会立即停止流水线，确保了交付质量。我们能够自动构建4个镜像，并在Kind集群中完成部署和验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我们对交易服务进行了HPA自动扩缩容测试。在施加压力后，CPU使用率飙升，HPA在1分钟内自动将Pod数量从1扩展到3。停止压力后，系统在冷却期后自动将Pod数量缩减回1。这证明了我们的系统具备弹性伸缩能力。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为了验证系统的韧性，我们进行了故障注入实验。无论是在Docker Compose还是Kubernetes环境中，当我们停止交易服务后，交易相关接口会返回友好的降级提示，而其他服务依然正常运行。这证明了我们的微服务架构具备优秀的故障隔离能力。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是性能对比。微服务架构在美食和酒店列表接口上表现出压倒性优势，吞吐量提升了数倍。博客列表接口性能持平，但内存占用大幅减少。这说明微服务改造不仅带来了性能提升，更重要的是优化了资源使用，并为未来的扩展打下了基础。</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最后，我们对项目进行总结。通过这个项目，我们不仅成功构建了一个功能完整的生活服务平台，更重要的是，我们完整地实践了从单体到微服务的架构演进过程。我们建立了全面的自动化测试和CI/CD体系，成功拆分了微服务，并验证了自动扩缩容、故障处理等云原生能力。这次实践让我们对现代软件工程有了更深刻的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当然，项目仍有可以改进的地方。未来，我们计划补充更完善的微服务端到端测试，加强系统安全性，并继续迭代业务功能。此外，建立一套完善的监控告警体系也是我们下一步的重点工作。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marL="0" indent="0" algn="l">
              <a:lnSpc>
                <a:spcPct val="100000"/>
              </a:lnSpc>
            </a:pPr>
            <a:r>
              <a:rPr lang="en-US" sz="1400" b="0" i="0" u="none" strike="noStrike">
                <a:solidFill>
                  <a:srgbClr val="000000"/>
                </a:solidFill>
              </a:rPr>
              <a:t>我的汇报到此结束，感谢大家的聆听。现在是问答环节，欢迎大家提问。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notesSlide" Target="../notesSlides/notesSlide5.xml"/><Relationship Id="rId8" Type="http://schemas.openxmlformats.org/officeDocument/2006/relationships/slideLayout" Target="../slideLayouts/slideLayout12.xml"/><Relationship Id="rId7" Type="http://schemas.openxmlformats.org/officeDocument/2006/relationships/image" Target="../media/image8.svg"/><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png"/><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image" Target="../media/image14.svg"/><Relationship Id="rId8" Type="http://schemas.openxmlformats.org/officeDocument/2006/relationships/image" Target="../media/image13.png"/><Relationship Id="rId7" Type="http://schemas.openxmlformats.org/officeDocument/2006/relationships/image" Target="../media/image6.svg"/><Relationship Id="rId6" Type="http://schemas.openxmlformats.org/officeDocument/2006/relationships/image" Target="../media/image5.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5" Type="http://schemas.openxmlformats.org/officeDocument/2006/relationships/notesSlide" Target="../notesSlides/notesSlide6.xml"/><Relationship Id="rId14" Type="http://schemas.openxmlformats.org/officeDocument/2006/relationships/slideLayout" Target="../slideLayouts/slideLayout12.xml"/><Relationship Id="rId13" Type="http://schemas.openxmlformats.org/officeDocument/2006/relationships/image" Target="../media/image18.svg"/><Relationship Id="rId12" Type="http://schemas.openxmlformats.org/officeDocument/2006/relationships/image" Target="../media/image17.png"/><Relationship Id="rId11" Type="http://schemas.openxmlformats.org/officeDocument/2006/relationships/image" Target="../media/image16.svg"/><Relationship Id="rId10" Type="http://schemas.openxmlformats.org/officeDocument/2006/relationships/image" Target="../media/image15.pn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image" Target="../media/image16.svg"/><Relationship Id="rId8" Type="http://schemas.openxmlformats.org/officeDocument/2006/relationships/image" Target="../media/image15.png"/><Relationship Id="rId7" Type="http://schemas.openxmlformats.org/officeDocument/2006/relationships/image" Target="../media/image20.svg"/><Relationship Id="rId6" Type="http://schemas.openxmlformats.org/officeDocument/2006/relationships/image" Target="../media/image19.png"/><Relationship Id="rId5" Type="http://schemas.openxmlformats.org/officeDocument/2006/relationships/image" Target="../media/image12.svg"/><Relationship Id="rId4" Type="http://schemas.openxmlformats.org/officeDocument/2006/relationships/image" Target="../media/image11.png"/><Relationship Id="rId3" Type="http://schemas.openxmlformats.org/officeDocument/2006/relationships/image" Target="../media/image10.svg"/><Relationship Id="rId2" Type="http://schemas.openxmlformats.org/officeDocument/2006/relationships/image" Target="../media/image9.png"/><Relationship Id="rId15" Type="http://schemas.openxmlformats.org/officeDocument/2006/relationships/notesSlide" Target="../notesSlides/notesSlide7.xml"/><Relationship Id="rId14" Type="http://schemas.openxmlformats.org/officeDocument/2006/relationships/slideLayout" Target="../slideLayouts/slideLayout12.xml"/><Relationship Id="rId13" Type="http://schemas.openxmlformats.org/officeDocument/2006/relationships/image" Target="../media/image18.svg"/><Relationship Id="rId12" Type="http://schemas.openxmlformats.org/officeDocument/2006/relationships/image" Target="../media/image17.png"/><Relationship Id="rId11" Type="http://schemas.openxmlformats.org/officeDocument/2006/relationships/image" Target="../media/image22.svg"/><Relationship Id="rId10" Type="http://schemas.openxmlformats.org/officeDocument/2006/relationships/image" Target="../media/image21.png"/><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5" Type="http://schemas.openxmlformats.org/officeDocument/2006/relationships/notesSlide" Target="../notesSlides/notesSlide8.xml"/><Relationship Id="rId14" Type="http://schemas.openxmlformats.org/officeDocument/2006/relationships/slideLayout" Target="../slideLayouts/slideLayout12.xml"/><Relationship Id="rId13" Type="http://schemas.openxmlformats.org/officeDocument/2006/relationships/image" Target="../media/image24.svg"/><Relationship Id="rId12" Type="http://schemas.openxmlformats.org/officeDocument/2006/relationships/image" Target="../media/image23.png"/><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9" Type="http://schemas.openxmlformats.org/officeDocument/2006/relationships/notesSlide" Target="../notesSlides/notesSlide9.xml"/><Relationship Id="rId8" Type="http://schemas.openxmlformats.org/officeDocument/2006/relationships/slideLayout" Target="../slideLayouts/slideLayout12.xml"/><Relationship Id="rId7" Type="http://schemas.openxmlformats.org/officeDocument/2006/relationships/image" Target="../media/image30.svg"/><Relationship Id="rId6" Type="http://schemas.openxmlformats.org/officeDocument/2006/relationships/image" Target="../media/image29.png"/><Relationship Id="rId5" Type="http://schemas.openxmlformats.org/officeDocument/2006/relationships/image" Target="../media/image28.svg"/><Relationship Id="rId4" Type="http://schemas.openxmlformats.org/officeDocument/2006/relationships/image" Target="../media/image27.png"/><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tags" Target="../tags/tag18.xml"/><Relationship Id="rId8" Type="http://schemas.openxmlformats.org/officeDocument/2006/relationships/tags" Target="../tags/tag17.xml"/><Relationship Id="rId7" Type="http://schemas.openxmlformats.org/officeDocument/2006/relationships/tags" Target="../tags/tag16.xml"/><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3" Type="http://schemas.openxmlformats.org/officeDocument/2006/relationships/notesSlide" Target="../notesSlides/notesSlide10.xml"/><Relationship Id="rId22" Type="http://schemas.openxmlformats.org/officeDocument/2006/relationships/slideLayout" Target="../slideLayouts/slideLayout12.xml"/><Relationship Id="rId21" Type="http://schemas.openxmlformats.org/officeDocument/2006/relationships/image" Target="../media/image32.svg"/><Relationship Id="rId20" Type="http://schemas.openxmlformats.org/officeDocument/2006/relationships/image" Target="../media/image31.png"/><Relationship Id="rId2" Type="http://schemas.openxmlformats.org/officeDocument/2006/relationships/tags" Target="../tags/tag11.xml"/><Relationship Id="rId19" Type="http://schemas.openxmlformats.org/officeDocument/2006/relationships/tags" Target="../tags/tag28.xml"/><Relationship Id="rId18" Type="http://schemas.openxmlformats.org/officeDocument/2006/relationships/tags" Target="../tags/tag27.xml"/><Relationship Id="rId17" Type="http://schemas.openxmlformats.org/officeDocument/2006/relationships/tags" Target="../tags/tag26.xml"/><Relationship Id="rId16" Type="http://schemas.openxmlformats.org/officeDocument/2006/relationships/tags" Target="../tags/tag25.xml"/><Relationship Id="rId15" Type="http://schemas.openxmlformats.org/officeDocument/2006/relationships/tags" Target="../tags/tag24.xml"/><Relationship Id="rId14" Type="http://schemas.openxmlformats.org/officeDocument/2006/relationships/tags" Target="../tags/tag23.xml"/><Relationship Id="rId13" Type="http://schemas.openxmlformats.org/officeDocument/2006/relationships/tags" Target="../tags/tag22.xml"/><Relationship Id="rId12" Type="http://schemas.openxmlformats.org/officeDocument/2006/relationships/tags" Target="../tags/tag21.xml"/><Relationship Id="rId11" Type="http://schemas.openxmlformats.org/officeDocument/2006/relationships/tags" Target="../tags/tag20.xml"/><Relationship Id="rId10" Type="http://schemas.openxmlformats.org/officeDocument/2006/relationships/tags" Target="../tags/tag19.xml"/><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9" Type="http://schemas.openxmlformats.org/officeDocument/2006/relationships/notesSlide" Target="../notesSlides/notesSlide11.xml"/><Relationship Id="rId8" Type="http://schemas.openxmlformats.org/officeDocument/2006/relationships/slideLayout" Target="../slideLayouts/slideLayout12.xml"/><Relationship Id="rId7" Type="http://schemas.openxmlformats.org/officeDocument/2006/relationships/image" Target="../media/image38.svg"/><Relationship Id="rId6" Type="http://schemas.openxmlformats.org/officeDocument/2006/relationships/image" Target="../media/image37.png"/><Relationship Id="rId5" Type="http://schemas.openxmlformats.org/officeDocument/2006/relationships/image" Target="../media/image36.svg"/><Relationship Id="rId4" Type="http://schemas.openxmlformats.org/officeDocument/2006/relationships/image" Target="../media/image35.png"/><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9" Type="http://schemas.openxmlformats.org/officeDocument/2006/relationships/image" Target="../media/image45.svg"/><Relationship Id="rId8" Type="http://schemas.openxmlformats.org/officeDocument/2006/relationships/image" Target="../media/image44.png"/><Relationship Id="rId7" Type="http://schemas.openxmlformats.org/officeDocument/2006/relationships/image" Target="../media/image24.svg"/><Relationship Id="rId6" Type="http://schemas.openxmlformats.org/officeDocument/2006/relationships/image" Target="../media/image43.png"/><Relationship Id="rId5" Type="http://schemas.openxmlformats.org/officeDocument/2006/relationships/image" Target="../media/image42.svg"/><Relationship Id="rId4" Type="http://schemas.openxmlformats.org/officeDocument/2006/relationships/image" Target="../media/image41.png"/><Relationship Id="rId3" Type="http://schemas.openxmlformats.org/officeDocument/2006/relationships/image" Target="../media/image40.svg"/><Relationship Id="rId2" Type="http://schemas.openxmlformats.org/officeDocument/2006/relationships/image" Target="../media/image39.png"/><Relationship Id="rId13" Type="http://schemas.openxmlformats.org/officeDocument/2006/relationships/notesSlide" Target="../notesSlides/notesSlide12.xml"/><Relationship Id="rId12" Type="http://schemas.openxmlformats.org/officeDocument/2006/relationships/slideLayout" Target="../slideLayouts/slideLayout12.xml"/><Relationship Id="rId11" Type="http://schemas.openxmlformats.org/officeDocument/2006/relationships/image" Target="../media/image47.svg"/><Relationship Id="rId10" Type="http://schemas.openxmlformats.org/officeDocument/2006/relationships/image" Target="../media/image46.png"/><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12.xml"/><Relationship Id="rId3" Type="http://schemas.openxmlformats.org/officeDocument/2006/relationships/image" Target="../media/image8.svg"/><Relationship Id="rId2" Type="http://schemas.openxmlformats.org/officeDocument/2006/relationships/image" Target="../media/image48.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12.xml"/><Relationship Id="rId3" Type="http://schemas.openxmlformats.org/officeDocument/2006/relationships/image" Target="../media/image18.svg"/><Relationship Id="rId2" Type="http://schemas.openxmlformats.org/officeDocument/2006/relationships/image" Target="../media/image49.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9" Type="http://schemas.openxmlformats.org/officeDocument/2006/relationships/image" Target="../media/image8.svg"/><Relationship Id="rId8" Type="http://schemas.openxmlformats.org/officeDocument/2006/relationships/image" Target="../media/image48.png"/><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1" Type="http://schemas.openxmlformats.org/officeDocument/2006/relationships/notesSlide" Target="../notesSlides/notesSlide16.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7.xml.rels><?xml version="1.0" encoding="UTF-8" standalone="yes"?>
<Relationships xmlns="http://schemas.openxmlformats.org/package/2006/relationships"><Relationship Id="rId9" Type="http://schemas.openxmlformats.org/officeDocument/2006/relationships/tags" Target="../tags/tag40.xml"/><Relationship Id="rId8" Type="http://schemas.openxmlformats.org/officeDocument/2006/relationships/tags" Target="../tags/tag39.xml"/><Relationship Id="rId7" Type="http://schemas.openxmlformats.org/officeDocument/2006/relationships/tags" Target="../tags/tag38.xml"/><Relationship Id="rId6" Type="http://schemas.openxmlformats.org/officeDocument/2006/relationships/tags" Target="../tags/tag37.xml"/><Relationship Id="rId5" Type="http://schemas.openxmlformats.org/officeDocument/2006/relationships/image" Target="../media/image51.svg"/><Relationship Id="rId4" Type="http://schemas.openxmlformats.org/officeDocument/2006/relationships/image" Target="../media/image50.png"/><Relationship Id="rId3" Type="http://schemas.openxmlformats.org/officeDocument/2006/relationships/tags" Target="../tags/tag36.xml"/><Relationship Id="rId26" Type="http://schemas.openxmlformats.org/officeDocument/2006/relationships/notesSlide" Target="../notesSlides/notesSlide17.xml"/><Relationship Id="rId25" Type="http://schemas.openxmlformats.org/officeDocument/2006/relationships/slideLayout" Target="../slideLayouts/slideLayout12.xml"/><Relationship Id="rId24" Type="http://schemas.openxmlformats.org/officeDocument/2006/relationships/image" Target="../media/image56.svg"/><Relationship Id="rId23" Type="http://schemas.openxmlformats.org/officeDocument/2006/relationships/image" Target="../media/image55.png"/><Relationship Id="rId22" Type="http://schemas.openxmlformats.org/officeDocument/2006/relationships/tags" Target="../tags/tag49.xml"/><Relationship Id="rId21" Type="http://schemas.openxmlformats.org/officeDocument/2006/relationships/tags" Target="../tags/tag48.xml"/><Relationship Id="rId20" Type="http://schemas.openxmlformats.org/officeDocument/2006/relationships/tags" Target="../tags/tag47.xml"/><Relationship Id="rId2" Type="http://schemas.openxmlformats.org/officeDocument/2006/relationships/tags" Target="../tags/tag35.xml"/><Relationship Id="rId19" Type="http://schemas.openxmlformats.org/officeDocument/2006/relationships/image" Target="../media/image10.svg"/><Relationship Id="rId18" Type="http://schemas.openxmlformats.org/officeDocument/2006/relationships/image" Target="../media/image54.png"/><Relationship Id="rId17" Type="http://schemas.openxmlformats.org/officeDocument/2006/relationships/tags" Target="../tags/tag46.xml"/><Relationship Id="rId16" Type="http://schemas.openxmlformats.org/officeDocument/2006/relationships/tags" Target="../tags/tag45.xml"/><Relationship Id="rId15" Type="http://schemas.openxmlformats.org/officeDocument/2006/relationships/tags" Target="../tags/tag44.xml"/><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image" Target="../media/image53.svg"/><Relationship Id="rId11" Type="http://schemas.openxmlformats.org/officeDocument/2006/relationships/image" Target="../media/image52.png"/><Relationship Id="rId10" Type="http://schemas.openxmlformats.org/officeDocument/2006/relationships/tags" Target="../tags/tag41.xml"/><Relationship Id="rId1" Type="http://schemas.openxmlformats.org/officeDocument/2006/relationships/image" Target="../media/image2.jpeg"/></Relationships>
</file>

<file path=ppt/slides/_rels/slide18.xml.rels><?xml version="1.0" encoding="UTF-8" standalone="yes"?>
<Relationships xmlns="http://schemas.openxmlformats.org/package/2006/relationships"><Relationship Id="rId9" Type="http://schemas.openxmlformats.org/officeDocument/2006/relationships/image" Target="../media/image62.svg"/><Relationship Id="rId8" Type="http://schemas.openxmlformats.org/officeDocument/2006/relationships/image" Target="../media/image61.png"/><Relationship Id="rId7" Type="http://schemas.openxmlformats.org/officeDocument/2006/relationships/image" Target="../media/image8.svg"/><Relationship Id="rId6" Type="http://schemas.openxmlformats.org/officeDocument/2006/relationships/image" Target="../media/image48.png"/><Relationship Id="rId5" Type="http://schemas.openxmlformats.org/officeDocument/2006/relationships/image" Target="../media/image60.svg"/><Relationship Id="rId4" Type="http://schemas.openxmlformats.org/officeDocument/2006/relationships/image" Target="../media/image59.png"/><Relationship Id="rId3" Type="http://schemas.openxmlformats.org/officeDocument/2006/relationships/image" Target="../media/image58.svg"/><Relationship Id="rId2" Type="http://schemas.openxmlformats.org/officeDocument/2006/relationships/image" Target="../media/image57.png"/><Relationship Id="rId15" Type="http://schemas.openxmlformats.org/officeDocument/2006/relationships/notesSlide" Target="../notesSlides/notesSlide18.xml"/><Relationship Id="rId14" Type="http://schemas.openxmlformats.org/officeDocument/2006/relationships/slideLayout" Target="../slideLayouts/slideLayout12.xml"/><Relationship Id="rId13" Type="http://schemas.openxmlformats.org/officeDocument/2006/relationships/image" Target="../media/image66.svg"/><Relationship Id="rId12" Type="http://schemas.openxmlformats.org/officeDocument/2006/relationships/image" Target="../media/image65.png"/><Relationship Id="rId11" Type="http://schemas.openxmlformats.org/officeDocument/2006/relationships/image" Target="../media/image64.svg"/><Relationship Id="rId10" Type="http://schemas.openxmlformats.org/officeDocument/2006/relationships/image" Target="../media/image63.png"/><Relationship Id="rId1" Type="http://schemas.openxmlformats.org/officeDocument/2006/relationships/image" Target="../media/image2.jpeg"/></Relationships>
</file>

<file path=ppt/slides/_rels/slide19.xml.rels><?xml version="1.0" encoding="UTF-8" standalone="yes"?>
<Relationships xmlns="http://schemas.openxmlformats.org/package/2006/relationships"><Relationship Id="rId9" Type="http://schemas.openxmlformats.org/officeDocument/2006/relationships/image" Target="../media/image70.svg"/><Relationship Id="rId8" Type="http://schemas.openxmlformats.org/officeDocument/2006/relationships/image" Target="../media/image69.png"/><Relationship Id="rId7" Type="http://schemas.openxmlformats.org/officeDocument/2006/relationships/image" Target="../media/image68.svg"/><Relationship Id="rId6" Type="http://schemas.openxmlformats.org/officeDocument/2006/relationships/image" Target="../media/image67.png"/><Relationship Id="rId5" Type="http://schemas.openxmlformats.org/officeDocument/2006/relationships/image" Target="../media/image8.svg"/><Relationship Id="rId4" Type="http://schemas.openxmlformats.org/officeDocument/2006/relationships/image" Target="../media/image48.png"/><Relationship Id="rId3" Type="http://schemas.openxmlformats.org/officeDocument/2006/relationships/image" Target="../media/image36.svg"/><Relationship Id="rId2" Type="http://schemas.openxmlformats.org/officeDocument/2006/relationships/image" Target="../media/image35.png"/><Relationship Id="rId11" Type="http://schemas.openxmlformats.org/officeDocument/2006/relationships/notesSlide" Target="../notesSlides/notesSlide19.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12.xml"/><Relationship Id="rId2" Type="http://schemas.openxmlformats.org/officeDocument/2006/relationships/image" Target="../media/image72.png"/><Relationship Id="rId1" Type="http://schemas.openxmlformats.org/officeDocument/2006/relationships/image" Target="../media/image7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381000" y="2159000"/>
            <a:ext cx="11430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Food Master 综合生活服务平台</a:t>
            </a:r>
            <a:endParaRPr lang="en-US" sz="1100"/>
          </a:p>
        </p:txBody>
      </p:sp>
      <p:sp>
        <p:nvSpPr>
          <p:cNvPr id="4" name="AutoShape 4"/>
          <p:cNvSpPr/>
          <p:nvPr/>
        </p:nvSpPr>
        <p:spPr>
          <a:xfrm>
            <a:off x="5207000" y="3937000"/>
            <a:ext cx="1778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381000" y="4318000"/>
            <a:ext cx="11430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2400" b="1"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项目总结汇报</a:t>
            </a:r>
            <a:endParaRPr lang="en-US" sz="1100"/>
          </a:p>
        </p:txBody>
      </p:sp>
      <p:sp>
        <p:nvSpPr>
          <p:cNvPr id="6" name="AutoShape 6"/>
          <p:cNvSpPr/>
          <p:nvPr/>
        </p:nvSpPr>
        <p:spPr>
          <a:xfrm>
            <a:off x="381000" y="5207000"/>
            <a:ext cx="11430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800" b="0" i="0" u="none" strike="noStrike">
                <a:solidFill>
                  <a:srgbClr val="FFFFFF">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从单体到微服务的架构演进实践</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CONTENTS</a:t>
            </a:r>
            <a:endParaRPr lang="en-US" sz="1100"/>
          </a:p>
        </p:txBody>
      </p:sp>
      <p:sp>
        <p:nvSpPr>
          <p:cNvPr id="4" name="AutoShape 4"/>
          <p:cNvSpPr/>
          <p:nvPr/>
        </p:nvSpPr>
        <p:spPr>
          <a:xfrm>
            <a:off x="762000" y="2159000"/>
            <a:ext cx="3378200" cy="3302000"/>
          </a:xfrm>
          <a:prstGeom prst="roundRect">
            <a:avLst>
              <a:gd name="adj" fmla="val 0"/>
            </a:avLst>
          </a:prstGeom>
          <a:solidFill>
            <a:srgbClr val="FFFFFF">
              <a:alpha val="60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2476500"/>
            <a:ext cx="299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6" name="AutoShape 6"/>
          <p:cNvSpPr/>
          <p:nvPr/>
        </p:nvSpPr>
        <p:spPr>
          <a:xfrm>
            <a:off x="952500" y="3429000"/>
            <a:ext cx="2997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项目概述</a:t>
            </a:r>
            <a:endParaRPr lang="en-US" sz="1100"/>
          </a:p>
        </p:txBody>
      </p:sp>
      <p:cxnSp>
        <p:nvCxnSpPr>
          <p:cNvPr id="7" name="Connector 7"/>
          <p:cNvCxnSpPr/>
          <p:nvPr/>
        </p:nvCxnSpPr>
        <p:spPr>
          <a:xfrm rot="-14881">
            <a:off x="952514" y="3994150"/>
            <a:ext cx="2933700" cy="12700"/>
          </a:xfrm>
          <a:prstGeom prst="straightConnector1">
            <a:avLst/>
          </a:prstGeom>
          <a:solidFill>
            <a:srgbClr val="DEE0E3">
              <a:alpha val="100000"/>
            </a:srgbClr>
          </a:solidFill>
          <a:ln w="25400" cap="flat" cmpd="sng">
            <a:solidFill>
              <a:srgbClr val="22C55E">
                <a:alpha val="30000"/>
              </a:srgbClr>
            </a:solidFill>
            <a:prstDash val="solid"/>
            <a:round/>
            <a:headEnd type="none" w="lg" len="lg"/>
            <a:tailEnd type="none" w="lg" len="lg"/>
          </a:ln>
        </p:spPr>
      </p:cxnSp>
      <p:sp>
        <p:nvSpPr>
          <p:cNvPr id="8" name="AutoShape 8"/>
          <p:cNvSpPr/>
          <p:nvPr/>
        </p:nvSpPr>
        <p:spPr>
          <a:xfrm>
            <a:off x="952500" y="4191000"/>
            <a:ext cx="2997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全面解析项目的业务背景与核心价值，梳理标准化的开发结构规范，并深入介绍支撑系统高效运行的核心技术栈。</a:t>
            </a:r>
            <a:endParaRPr lang="en-US" sz="1100"/>
          </a:p>
        </p:txBody>
      </p:sp>
      <p:sp>
        <p:nvSpPr>
          <p:cNvPr id="9" name="AutoShape 9"/>
          <p:cNvSpPr/>
          <p:nvPr/>
        </p:nvSpPr>
        <p:spPr>
          <a:xfrm>
            <a:off x="4406900" y="2159000"/>
            <a:ext cx="3378200" cy="3302000"/>
          </a:xfrm>
          <a:prstGeom prst="roundRect">
            <a:avLst>
              <a:gd name="adj" fmla="val 0"/>
            </a:avLst>
          </a:prstGeom>
          <a:solidFill>
            <a:srgbClr val="FFFFFF">
              <a:alpha val="60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10" name="AutoShape 10"/>
          <p:cNvSpPr/>
          <p:nvPr/>
        </p:nvSpPr>
        <p:spPr>
          <a:xfrm>
            <a:off x="4597400" y="2476500"/>
            <a:ext cx="299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1" name="AutoShape 11"/>
          <p:cNvSpPr/>
          <p:nvPr/>
        </p:nvSpPr>
        <p:spPr>
          <a:xfrm>
            <a:off x="4597400" y="3429000"/>
            <a:ext cx="2997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项目历程与核心成果</a:t>
            </a:r>
            <a:endParaRPr lang="en-US" sz="1100"/>
          </a:p>
        </p:txBody>
      </p:sp>
      <p:cxnSp>
        <p:nvCxnSpPr>
          <p:cNvPr id="12" name="Connector 12"/>
          <p:cNvCxnSpPr/>
          <p:nvPr/>
        </p:nvCxnSpPr>
        <p:spPr>
          <a:xfrm rot="-14881">
            <a:off x="4597414" y="3994150"/>
            <a:ext cx="2933700" cy="12700"/>
          </a:xfrm>
          <a:prstGeom prst="straightConnector1">
            <a:avLst/>
          </a:prstGeom>
          <a:solidFill>
            <a:srgbClr val="DEE0E3">
              <a:alpha val="100000"/>
            </a:srgbClr>
          </a:solidFill>
          <a:ln w="25400" cap="flat" cmpd="sng">
            <a:solidFill>
              <a:srgbClr val="22C55E">
                <a:alpha val="30000"/>
              </a:srgbClr>
            </a:solidFill>
            <a:prstDash val="solid"/>
            <a:round/>
            <a:headEnd type="none" w="lg" len="lg"/>
            <a:tailEnd type="none" w="lg" len="lg"/>
          </a:ln>
        </p:spPr>
      </p:cxnSp>
      <p:sp>
        <p:nvSpPr>
          <p:cNvPr id="13" name="AutoShape 13"/>
          <p:cNvSpPr/>
          <p:nvPr/>
        </p:nvSpPr>
        <p:spPr>
          <a:xfrm>
            <a:off x="4597400" y="4191000"/>
            <a:ext cx="2997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回顾从单体架构向微服务架构的演进之路，剖析架构升级的关键技术节点，展示系统性能优化与稳定性提升的显著成果。</a:t>
            </a:r>
            <a:endParaRPr lang="en-US" sz="1100"/>
          </a:p>
        </p:txBody>
      </p:sp>
      <p:sp>
        <p:nvSpPr>
          <p:cNvPr id="14" name="AutoShape 14"/>
          <p:cNvSpPr/>
          <p:nvPr/>
        </p:nvSpPr>
        <p:spPr>
          <a:xfrm>
            <a:off x="8051800" y="2159000"/>
            <a:ext cx="3378200" cy="3302000"/>
          </a:xfrm>
          <a:prstGeom prst="roundRect">
            <a:avLst>
              <a:gd name="adj" fmla="val 0"/>
            </a:avLst>
          </a:prstGeom>
          <a:solidFill>
            <a:srgbClr val="FFFFFF">
              <a:alpha val="60000"/>
            </a:srgbClr>
          </a:solidFill>
          <a:ln w="12700" cap="flat" cmpd="sng">
            <a:solidFill>
              <a:srgbClr val="22C55E">
                <a:alpha val="15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8242300" y="2476500"/>
            <a:ext cx="29972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4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6" name="AutoShape 16"/>
          <p:cNvSpPr/>
          <p:nvPr/>
        </p:nvSpPr>
        <p:spPr>
          <a:xfrm>
            <a:off x="8242300" y="3429000"/>
            <a:ext cx="2997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总结与展望</a:t>
            </a:r>
            <a:endParaRPr lang="en-US" sz="1100"/>
          </a:p>
        </p:txBody>
      </p:sp>
      <p:cxnSp>
        <p:nvCxnSpPr>
          <p:cNvPr id="17" name="Connector 17"/>
          <p:cNvCxnSpPr/>
          <p:nvPr/>
        </p:nvCxnSpPr>
        <p:spPr>
          <a:xfrm rot="-14881">
            <a:off x="8242314" y="3994150"/>
            <a:ext cx="2933700" cy="12700"/>
          </a:xfrm>
          <a:prstGeom prst="straightConnector1">
            <a:avLst/>
          </a:prstGeom>
          <a:solidFill>
            <a:srgbClr val="DEE0E3">
              <a:alpha val="100000"/>
            </a:srgbClr>
          </a:solidFill>
          <a:ln w="25400" cap="flat" cmpd="sng">
            <a:solidFill>
              <a:srgbClr val="22C55E">
                <a:alpha val="30000"/>
              </a:srgbClr>
            </a:solidFill>
            <a:prstDash val="solid"/>
            <a:round/>
            <a:headEnd type="none" w="lg" len="lg"/>
            <a:tailEnd type="none" w="lg" len="lg"/>
          </a:ln>
        </p:spPr>
      </p:cxnSp>
      <p:sp>
        <p:nvSpPr>
          <p:cNvPr id="18" name="AutoShape 18"/>
          <p:cNvSpPr/>
          <p:nvPr/>
        </p:nvSpPr>
        <p:spPr>
          <a:xfrm>
            <a:off x="8242300" y="4191000"/>
            <a:ext cx="2997200" cy="1079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总结项目建设的阶段性成果与经验沉淀，梳理当前的待办优化事项，并对未来的技术迭代方向与业务拓展蓝图进行规划。</a:t>
            </a:r>
            <a:endParaRPr lang="en-US" sz="1100"/>
          </a:p>
        </p:txBody>
      </p:sp>
      <p:sp>
        <p:nvSpPr>
          <p:cNvPr id="19" name="AutoShape 19"/>
          <p:cNvSpPr/>
          <p:nvPr/>
        </p:nvSpPr>
        <p:spPr>
          <a:xfrm>
            <a:off x="0" y="5969000"/>
            <a:ext cx="12192000" cy="381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2026 年度技术项目复盘汇报</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 CONTENTS</a:t>
            </a:r>
            <a:endParaRPr lang="en-US" sz="1100"/>
          </a:p>
        </p:txBody>
      </p:sp>
      <p:sp>
        <p:nvSpPr>
          <p:cNvPr id="4" name="AutoShape 4"/>
          <p:cNvSpPr/>
          <p:nvPr/>
        </p:nvSpPr>
        <p:spPr>
          <a:xfrm>
            <a:off x="762000" y="1778000"/>
            <a:ext cx="3378200" cy="1905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952500" y="1968500"/>
            <a:ext cx="2997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6" name="AutoShape 6"/>
          <p:cNvSpPr/>
          <p:nvPr/>
        </p:nvSpPr>
        <p:spPr>
          <a:xfrm>
            <a:off x="952500" y="2476500"/>
            <a:ext cx="29972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项目概述与追溯关系</a:t>
            </a:r>
            <a:endParaRPr lang="en-US" sz="1100"/>
          </a:p>
        </p:txBody>
      </p:sp>
      <p:sp>
        <p:nvSpPr>
          <p:cNvPr id="7" name="AutoShape 7"/>
          <p:cNvSpPr/>
          <p:nvPr/>
        </p:nvSpPr>
        <p:spPr>
          <a:xfrm>
            <a:off x="952500" y="29464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梳理食品从生产到终端的全链路追溯体系，解析核心业务场景与典型用例的实现逻辑。</a:t>
            </a:r>
            <a:endParaRPr lang="en-US" sz="1100"/>
          </a:p>
        </p:txBody>
      </p:sp>
      <p:sp>
        <p:nvSpPr>
          <p:cNvPr id="8" name="AutoShape 8"/>
          <p:cNvSpPr/>
          <p:nvPr/>
        </p:nvSpPr>
        <p:spPr>
          <a:xfrm>
            <a:off x="4406900" y="1778000"/>
            <a:ext cx="3378200" cy="1905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4597400" y="1968500"/>
            <a:ext cx="2997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0" name="AutoShape 10"/>
          <p:cNvSpPr/>
          <p:nvPr/>
        </p:nvSpPr>
        <p:spPr>
          <a:xfrm>
            <a:off x="4597400" y="2476500"/>
            <a:ext cx="29972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模型与代码架构演变</a:t>
            </a:r>
            <a:endParaRPr lang="en-US" sz="1100"/>
          </a:p>
        </p:txBody>
      </p:sp>
      <p:sp>
        <p:nvSpPr>
          <p:cNvPr id="11" name="AutoShape 11"/>
          <p:cNvSpPr/>
          <p:nvPr/>
        </p:nvSpPr>
        <p:spPr>
          <a:xfrm>
            <a:off x="4597400" y="29464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回顾从单体应用向微服务架构的演进历程，探讨技术选型背后的考量与代码组织优化。</a:t>
            </a:r>
            <a:endParaRPr lang="en-US" sz="1100"/>
          </a:p>
        </p:txBody>
      </p:sp>
      <p:sp>
        <p:nvSpPr>
          <p:cNvPr id="12" name="AutoShape 12"/>
          <p:cNvSpPr/>
          <p:nvPr/>
        </p:nvSpPr>
        <p:spPr>
          <a:xfrm>
            <a:off x="8051800" y="1778000"/>
            <a:ext cx="3378200" cy="1905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8242300" y="1968500"/>
            <a:ext cx="29972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4" name="AutoShape 14"/>
          <p:cNvSpPr/>
          <p:nvPr/>
        </p:nvSpPr>
        <p:spPr>
          <a:xfrm>
            <a:off x="8242300" y="2476500"/>
            <a:ext cx="29972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微服务架构核心设计</a:t>
            </a:r>
            <a:endParaRPr lang="en-US" sz="1100"/>
          </a:p>
        </p:txBody>
      </p:sp>
      <p:sp>
        <p:nvSpPr>
          <p:cNvPr id="15" name="AutoShape 15"/>
          <p:cNvSpPr/>
          <p:nvPr/>
        </p:nvSpPr>
        <p:spPr>
          <a:xfrm>
            <a:off x="8242300" y="2946400"/>
            <a:ext cx="29972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深入拆解服务边界划分原则、职责定义规范及整体架构拓扑，解析领域驱动设计的落地实践。</a:t>
            </a:r>
            <a:endParaRPr lang="en-US" sz="1100"/>
          </a:p>
        </p:txBody>
      </p:sp>
      <p:sp>
        <p:nvSpPr>
          <p:cNvPr id="16" name="AutoShape 16"/>
          <p:cNvSpPr/>
          <p:nvPr/>
        </p:nvSpPr>
        <p:spPr>
          <a:xfrm>
            <a:off x="762000" y="4064000"/>
            <a:ext cx="5270500" cy="1905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952500" y="4254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8" name="AutoShape 18"/>
          <p:cNvSpPr/>
          <p:nvPr/>
        </p:nvSpPr>
        <p:spPr>
          <a:xfrm>
            <a:off x="952500" y="4762500"/>
            <a:ext cx="488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高可用性与容错机制</a:t>
            </a:r>
            <a:endParaRPr lang="en-US" sz="1100"/>
          </a:p>
        </p:txBody>
      </p:sp>
      <p:sp>
        <p:nvSpPr>
          <p:cNvPr id="19" name="AutoShape 19"/>
          <p:cNvSpPr/>
          <p:nvPr/>
        </p:nvSpPr>
        <p:spPr>
          <a:xfrm>
            <a:off x="952500" y="5232400"/>
            <a:ext cx="4889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剖析服务调用失败的应对策略，涵盖熔断、降级、限流等核心机制，以及多活灾备方案，全方位保障系统稳定性。</a:t>
            </a:r>
            <a:endParaRPr lang="en-US" sz="1100"/>
          </a:p>
        </p:txBody>
      </p:sp>
      <p:sp>
        <p:nvSpPr>
          <p:cNvPr id="20" name="AutoShape 20"/>
          <p:cNvSpPr/>
          <p:nvPr/>
        </p:nvSpPr>
        <p:spPr>
          <a:xfrm>
            <a:off x="6159500" y="4064000"/>
            <a:ext cx="5270500" cy="1905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350000" y="4254500"/>
            <a:ext cx="48895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2" name="AutoShape 22"/>
          <p:cNvSpPr/>
          <p:nvPr/>
        </p:nvSpPr>
        <p:spPr>
          <a:xfrm>
            <a:off x="6350000" y="4762500"/>
            <a:ext cx="4889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关键数据与成果验证</a:t>
            </a:r>
            <a:endParaRPr lang="en-US" sz="1100"/>
          </a:p>
        </p:txBody>
      </p:sp>
      <p:sp>
        <p:nvSpPr>
          <p:cNvPr id="23" name="AutoShape 23"/>
          <p:cNvSpPr/>
          <p:nvPr/>
        </p:nvSpPr>
        <p:spPr>
          <a:xfrm>
            <a:off x="6350000" y="5232400"/>
            <a:ext cx="4889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展示自动化测试覆盖率、CI/CD流水线效能数据、系统弹性扩缩容表现，以及故障演练与性能压测的关键指标。</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100330" y="12573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项目概述与追溯关系：完整追溯链</a:t>
            </a:r>
            <a:endParaRPr lang="en-US" sz="1100"/>
          </a:p>
        </p:txBody>
      </p:sp>
      <p:sp>
        <p:nvSpPr>
          <p:cNvPr id="4" name="AutoShape 4"/>
          <p:cNvSpPr/>
          <p:nvPr/>
        </p:nvSpPr>
        <p:spPr>
          <a:xfrm>
            <a:off x="762000" y="1651000"/>
            <a:ext cx="10668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项目构建了从「需求定义 → 用例设计 → 三层模型 → 代码模块 → 单元测试 → 集成/API 测试 → 端到端(E2E)测试」的全链路可追溯体系，确保需求与交付的一致性。验收报告重点标记 </a:t>
            </a: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UC02(外卖)、UC04(酒店)、UC07(社区)</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为核心业务场景的代表性用例，所有测试均已通过验证。</a:t>
            </a:r>
            <a:endParaRPr lang="en-US" sz="1100"/>
          </a:p>
        </p:txBody>
      </p:sp>
      <p:graphicFrame>
        <p:nvGraphicFramePr>
          <p:cNvPr id="5" name="Table 5"/>
          <p:cNvGraphicFramePr>
            <a:graphicFrameLocks noGrp="1"/>
          </p:cNvGraphicFramePr>
          <p:nvPr/>
        </p:nvGraphicFramePr>
        <p:xfrm>
          <a:off x="865505" y="2984500"/>
          <a:ext cx="11430000" cy="2692400"/>
        </p:xfrm>
        <a:graphic>
          <a:graphicData uri="http://schemas.openxmlformats.org/drawingml/2006/table">
            <a:tbl>
              <a:tblPr>
                <a:effectLst/>
              </a:tblPr>
              <a:tblGrid>
                <a:gridCol w="1440000"/>
                <a:gridCol w="1440000"/>
                <a:gridCol w="2160000"/>
                <a:gridCol w="1800000"/>
                <a:gridCol w="1800000"/>
                <a:gridCol w="1620000"/>
              </a:tblGrid>
              <a:tr h="558800">
                <a:tc>
                  <a:txBody>
                    <a:bodyPr rtlCol="0"/>
                    <a:lstStyle/>
                    <a:p>
                      <a:pPr marL="0" indent="0" algn="ctr">
                        <a:lnSpc>
                          <a:spcPct val="100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需求ID</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22C55E">
                        <a:alpha val="12000"/>
                      </a:srgbClr>
                    </a:solidFill>
                  </a:tcPr>
                </a:tc>
                <a:tc>
                  <a:txBody>
                    <a:bodyPr rtlCol="0"/>
                    <a:lstStyle/>
                    <a:p>
                      <a:pPr marL="0" indent="0" algn="ctr">
                        <a:lnSpc>
                          <a:spcPct val="100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用例标识</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22C55E">
                        <a:alpha val="12000"/>
                      </a:srgbClr>
                    </a:solidFill>
                  </a:tcPr>
                </a:tc>
                <a:tc>
                  <a:txBody>
                    <a:bodyPr rtlCol="0"/>
                    <a:lstStyle/>
                    <a:p>
                      <a:pPr marL="0" indent="0" algn="ctr">
                        <a:lnSpc>
                          <a:spcPct val="100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核心代码模块</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22C55E">
                        <a:alpha val="12000"/>
                      </a:srgbClr>
                    </a:solidFill>
                  </a:tcPr>
                </a:tc>
                <a:tc>
                  <a:txBody>
                    <a:bodyPr rtlCol="0"/>
                    <a:lstStyle/>
                    <a:p>
                      <a:pPr marL="0" indent="0" algn="ctr">
                        <a:lnSpc>
                          <a:spcPct val="100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单元测试类</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22C55E">
                        <a:alpha val="12000"/>
                      </a:srgbClr>
                    </a:solidFill>
                  </a:tcPr>
                </a:tc>
                <a:tc>
                  <a:txBody>
                    <a:bodyPr rtlCol="0"/>
                    <a:lstStyle/>
                    <a:p>
                      <a:pPr marL="0" indent="0" algn="ctr">
                        <a:lnSpc>
                          <a:spcPct val="100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集成/API测试</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22C55E">
                        <a:alpha val="12000"/>
                      </a:srgbClr>
                    </a:solidFill>
                  </a:tcPr>
                </a:tc>
                <a:tc>
                  <a:txBody>
                    <a:bodyPr rtlCol="0"/>
                    <a:lstStyle/>
                    <a:p>
                      <a:pPr marL="0" indent="0" algn="ctr">
                        <a:lnSpc>
                          <a:spcPct val="100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验证结果</a:t>
                      </a:r>
                      <a:endParaRPr lang="en-US" sz="1100"/>
                    </a:p>
                  </a:txBody>
                  <a:tcPr marL="101600" marR="101600" marT="101600" marB="101600" anchor="t" anchorCtr="0">
                    <a:lnL>
                      <a:noFill/>
                    </a:lnL>
                    <a:lnR>
                      <a:noFill/>
                    </a:lnR>
                    <a:lnT>
                      <a:noFill/>
                    </a:lnT>
                    <a:lnB w="25400" cap="flat" cmpd="sng" algn="ctr">
                      <a:solidFill>
                        <a:srgbClr val="22C55E"/>
                      </a:solidFill>
                      <a:prstDash val="solid"/>
                      <a:round/>
                      <a:headEnd type="none" w="med" len="med"/>
                      <a:tailEnd type="none" w="med" len="med"/>
                    </a:lnB>
                    <a:solidFill>
                      <a:srgbClr val="22C55E">
                        <a:alpha val="12000"/>
                      </a:srgbClr>
                    </a:solidFill>
                  </a:tcPr>
                </a:tc>
              </a:tr>
              <a:tr h="533400">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REQ02</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rtlCol="0"/>
                    <a:lstStyle/>
                    <a:p>
                      <a:pPr marL="0" indent="0" algn="ctr">
                        <a:lnSpc>
                          <a:spcPct val="100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UC02 (外卖)</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views.food/foodorder</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订单/评分规则测试</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FoodApiTest</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rtlCol="0"/>
                    <a:lstStyle/>
                    <a:p>
                      <a:pPr marL="0" indent="0" algn="ctr">
                        <a:lnSpc>
                          <a:spcPct val="100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测试通过</a:t>
                      </a:r>
                      <a:endParaRPr lang="en-US" sz="1100"/>
                    </a:p>
                  </a:txBody>
                  <a:tcPr marL="101600" marR="101600" marT="101600" marB="101600" anchor="t" anchorCtr="0">
                    <a:lnL>
                      <a:noFill/>
                    </a:lnL>
                    <a:lnR>
                      <a:noFill/>
                    </a:lnR>
                    <a:lnT w="25400" cap="flat" cmpd="sng" algn="ctr">
                      <a:solidFill>
                        <a:srgbClr val="22C55E"/>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r>
              <a:tr h="533400">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REQ04</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marL="0" indent="0" algn="ctr">
                        <a:lnSpc>
                          <a:spcPct val="100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UC04 (酒店)</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service_views.hotel</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HotelPriceRuleTest</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HotelApiTest</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c>
                  <a:txBody>
                    <a:bodyPr rtlCol="0"/>
                    <a:lstStyle/>
                    <a:p>
                      <a:pPr marL="0" indent="0" algn="ctr">
                        <a:lnSpc>
                          <a:spcPct val="100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测试通过</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solidFill>
                      <a:srgbClr val="F9FAFB">
                        <a:alpha val="100000"/>
                      </a:srgbClr>
                    </a:solidFill>
                  </a:tcPr>
                </a:tc>
              </a:tr>
              <a:tr h="533400">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REQ07</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rtlCol="0"/>
                    <a:lstStyle/>
                    <a:p>
                      <a:pPr marL="0" indent="0" algn="ctr">
                        <a:lnSpc>
                          <a:spcPct val="100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UC07 (社区)</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blog/blogsend</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内容边界规则测试</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BlogApiTest</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c>
                  <a:txBody>
                    <a:bodyPr rtlCol="0"/>
                    <a:lstStyle/>
                    <a:p>
                      <a:pPr marL="0" indent="0" algn="ctr">
                        <a:lnSpc>
                          <a:spcPct val="100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测试通过</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w="12700" cap="flat" cmpd="sng" algn="ctr">
                      <a:solidFill>
                        <a:srgbClr val="E5E7EB"/>
                      </a:solidFill>
                      <a:prstDash val="solid"/>
                      <a:round/>
                      <a:headEnd type="none" w="med" len="med"/>
                      <a:tailEnd type="none" w="med" len="med"/>
                    </a:lnB>
                    <a:noFill/>
                  </a:tcPr>
                </a:tc>
              </a:tr>
              <a:tr h="533400">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REQ08</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a:noFill/>
                    </a:lnB>
                    <a:solidFill>
                      <a:srgbClr val="F9FAFB">
                        <a:alpha val="100000"/>
                      </a:srgbClr>
                    </a:solidFill>
                  </a:tcPr>
                </a:tc>
                <a:tc>
                  <a:txBody>
                    <a:bodyPr rtlCol="0"/>
                    <a:lstStyle/>
                    <a:p>
                      <a:pPr marL="0" indent="0" algn="ctr">
                        <a:lnSpc>
                          <a:spcPct val="100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UC08 (AI助手)</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a:noFill/>
                    </a:lnB>
                    <a:solidFill>
                      <a:srgbClr val="F9FAFB">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ai_chat_view</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a:noFill/>
                    </a:lnB>
                    <a:solidFill>
                      <a:srgbClr val="F9FAFB">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LlmClientTest</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a:noFill/>
                    </a:lnB>
                    <a:solidFill>
                      <a:srgbClr val="F9FAFB">
                        <a:alpha val="100000"/>
                      </a:srgbClr>
                    </a:solidFill>
                  </a:tcPr>
                </a:tc>
                <a:tc>
                  <a:txBody>
                    <a:bodyPr rtlCol="0"/>
                    <a:lstStyle/>
                    <a:p>
                      <a:pPr marL="0" indent="0" algn="ctr">
                        <a:lnSpc>
                          <a:spcPct val="100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AiApiTest</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a:noFill/>
                    </a:lnB>
                    <a:solidFill>
                      <a:srgbClr val="F9FAFB">
                        <a:alpha val="100000"/>
                      </a:srgbClr>
                    </a:solidFill>
                  </a:tcPr>
                </a:tc>
                <a:tc>
                  <a:txBody>
                    <a:bodyPr rtlCol="0"/>
                    <a:lstStyle/>
                    <a:p>
                      <a:pPr marL="0" indent="0" algn="ctr">
                        <a:lnSpc>
                          <a:spcPct val="100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测试通过</a:t>
                      </a:r>
                      <a:endParaRPr lang="en-US" sz="1100"/>
                    </a:p>
                  </a:txBody>
                  <a:tcPr marL="101600" marR="101600" marT="101600" marB="101600" anchor="t" anchorCtr="0">
                    <a:lnL>
                      <a:noFill/>
                    </a:lnL>
                    <a:lnR>
                      <a:noFill/>
                    </a:lnR>
                    <a:lnT w="12700" cap="flat" cmpd="sng" algn="ctr">
                      <a:solidFill>
                        <a:srgbClr val="E5E7EB"/>
                      </a:solidFill>
                      <a:prstDash val="solid"/>
                      <a:round/>
                      <a:headEnd type="none" w="med" len="med"/>
                      <a:tailEnd type="none" w="med" len="med"/>
                    </a:lnT>
                    <a:lnB>
                      <a:noFill/>
                    </a:lnB>
                    <a:solidFill>
                      <a:srgbClr val="F9FAFB">
                        <a:alpha val="100000"/>
                      </a:srgbClr>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代表用例 1: UC02 外卖下单、履约与评价</a:t>
            </a:r>
            <a:endParaRPr lang="en-US" sz="1100"/>
          </a:p>
        </p:txBody>
      </p:sp>
      <p:sp>
        <p:nvSpPr>
          <p:cNvPr id="4" name="AutoShape 4"/>
          <p:cNvSpPr/>
          <p:nvPr/>
        </p:nvSpPr>
        <p:spPr>
          <a:xfrm>
            <a:off x="762000" y="1778000"/>
            <a:ext cx="3378200" cy="4064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32000"/>
            <a:ext cx="406400" cy="406400"/>
          </a:xfrm>
          <a:prstGeom prst="rect">
            <a:avLst/>
          </a:prstGeom>
        </p:spPr>
      </p:pic>
      <p:sp>
        <p:nvSpPr>
          <p:cNvPr id="6" name="AutoShape 6"/>
          <p:cNvSpPr/>
          <p:nvPr/>
        </p:nvSpPr>
        <p:spPr>
          <a:xfrm>
            <a:off x="1524000" y="2057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业务全景与设计</a:t>
            </a:r>
            <a:endParaRPr lang="en-US" sz="1100"/>
          </a:p>
        </p:txBody>
      </p:sp>
      <p:cxnSp>
        <p:nvCxnSpPr>
          <p:cNvPr id="7" name="Connector 7"/>
          <p:cNvCxnSpPr/>
          <p:nvPr/>
        </p:nvCxnSpPr>
        <p:spPr>
          <a:xfrm rot="-15211">
            <a:off x="1016014" y="2660650"/>
            <a:ext cx="2870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8" name="AutoShape 8"/>
          <p:cNvSpPr/>
          <p:nvPr/>
        </p:nvSpPr>
        <p:spPr>
          <a:xfrm>
            <a:off x="1016000" y="2857500"/>
            <a:ext cx="28702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核心需求：</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REQ02 定义了从选菜、接单、配送、送达至评价的全链路闭环，打通用户、商家、骑手三方协作流程。</a:t>
            </a:r>
            <a:endParaRPr lang="en-US" sz="1100"/>
          </a:p>
          <a:p>
            <a:pPr marL="0" indent="0" algn="l">
              <a:lnSpc>
                <a:spcPct val="125000"/>
              </a:lnSpc>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设计模型：</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构建三层顺序图明确交互逻辑；设计六阶段状态机（待骑手→已评价），精准管控订单生命周期流转。</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4406900" y="1778000"/>
            <a:ext cx="3378200" cy="4064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60900" y="2032000"/>
            <a:ext cx="406400" cy="406400"/>
          </a:xfrm>
          <a:prstGeom prst="rect">
            <a:avLst/>
          </a:prstGeom>
        </p:spPr>
      </p:pic>
      <p:sp>
        <p:nvSpPr>
          <p:cNvPr id="11" name="AutoShape 11"/>
          <p:cNvSpPr/>
          <p:nvPr/>
        </p:nvSpPr>
        <p:spPr>
          <a:xfrm>
            <a:off x="5168900" y="2057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技术实现与单测</a:t>
            </a:r>
            <a:endParaRPr lang="en-US" sz="1100"/>
          </a:p>
        </p:txBody>
      </p:sp>
      <p:cxnSp>
        <p:nvCxnSpPr>
          <p:cNvPr id="12" name="Connector 12"/>
          <p:cNvCxnSpPr/>
          <p:nvPr/>
        </p:nvCxnSpPr>
        <p:spPr>
          <a:xfrm rot="-15211">
            <a:off x="4660914" y="2660650"/>
            <a:ext cx="2870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3" name="AutoShape 13"/>
          <p:cNvSpPr/>
          <p:nvPr/>
        </p:nvSpPr>
        <p:spPr>
          <a:xfrm>
            <a:off x="4660900" y="2857500"/>
            <a:ext cx="28702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代码落地：</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覆盖前端订单详情页、骑手服务接口及评价模块，实现业务逻辑与数据层的解耦设计，确保高内聚低耦合。</a:t>
            </a:r>
            <a:endParaRPr lang="en-US" sz="1100"/>
          </a:p>
          <a:p>
            <a:pPr marL="0" indent="0" algn="l">
              <a:lnSpc>
                <a:spcPct val="125000"/>
              </a:lnSpc>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单元测试：</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针对金额计算、评分区间(0,5]校验及状态流转规则编写单测，确保核心业务逻辑无死角覆盖。</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8051800" y="1778000"/>
            <a:ext cx="3378200" cy="4064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05800" y="2032000"/>
            <a:ext cx="406400" cy="406400"/>
          </a:xfrm>
          <a:prstGeom prst="rect">
            <a:avLst/>
          </a:prstGeom>
        </p:spPr>
      </p:pic>
      <p:sp>
        <p:nvSpPr>
          <p:cNvPr id="16" name="AutoShape 16"/>
          <p:cNvSpPr/>
          <p:nvPr/>
        </p:nvSpPr>
        <p:spPr>
          <a:xfrm>
            <a:off x="8813800" y="2057400"/>
            <a:ext cx="2540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 全链路质量验证</a:t>
            </a:r>
            <a:endParaRPr lang="en-US" sz="1100"/>
          </a:p>
        </p:txBody>
      </p:sp>
      <p:cxnSp>
        <p:nvCxnSpPr>
          <p:cNvPr id="17" name="Connector 17"/>
          <p:cNvCxnSpPr/>
          <p:nvPr/>
        </p:nvCxnSpPr>
        <p:spPr>
          <a:xfrm rot="-15211">
            <a:off x="8305814" y="2660650"/>
            <a:ext cx="2870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8" name="AutoShape 18"/>
          <p:cNvSpPr/>
          <p:nvPr/>
        </p:nvSpPr>
        <p:spPr>
          <a:xfrm>
            <a:off x="8305800" y="2857500"/>
            <a:ext cx="2870200" cy="2667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集成测试：</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 FoodApi 核心接口（下单/购物车/详情）及跨模块的订单可见性、状态同步机制，确保模块间协作顺畅。</a:t>
            </a:r>
            <a:endParaRPr lang="en-US" sz="1100"/>
          </a:p>
          <a:p>
            <a:pPr marL="0" indent="0" algn="l">
              <a:lnSpc>
                <a:spcPct val="125000"/>
              </a:lnSpc>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E2E 验收：</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覆盖正常下单、购物车转化及异常分支场景，3项关键场景测试全部 PASSED，保障交付质量与用户体验。</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代表用例 2: UC04 预订酒店并评价</a:t>
            </a:r>
            <a:endParaRPr lang="en-US" sz="1100"/>
          </a:p>
        </p:txBody>
      </p:sp>
      <p:sp>
        <p:nvSpPr>
          <p:cNvPr id="4" name="AutoShape 4"/>
          <p:cNvSpPr/>
          <p:nvPr/>
        </p:nvSpPr>
        <p:spPr>
          <a:xfrm>
            <a:off x="762000" y="1778000"/>
            <a:ext cx="3378200" cy="1968500"/>
          </a:xfrm>
          <a:prstGeom prst="roundRect">
            <a:avLst>
              <a:gd name="adj" fmla="val 0"/>
            </a:avLst>
          </a:prstGeom>
          <a:solidFill>
            <a:srgbClr val="FFFFFF">
              <a:alpha val="7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5200" y="1981200"/>
            <a:ext cx="304800" cy="304800"/>
          </a:xfrm>
          <a:prstGeom prst="rect">
            <a:avLst/>
          </a:prstGeom>
        </p:spPr>
      </p:pic>
      <p:sp>
        <p:nvSpPr>
          <p:cNvPr id="6" name="AutoShape 6"/>
          <p:cNvSpPr/>
          <p:nvPr/>
        </p:nvSpPr>
        <p:spPr>
          <a:xfrm>
            <a:off x="1371600" y="19558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业务需求定义</a:t>
            </a:r>
            <a:endParaRPr lang="en-US" sz="1100"/>
          </a:p>
        </p:txBody>
      </p:sp>
      <p:sp>
        <p:nvSpPr>
          <p:cNvPr id="7" name="AutoShape 7"/>
          <p:cNvSpPr/>
          <p:nvPr/>
        </p:nvSpPr>
        <p:spPr>
          <a:xfrm>
            <a:off x="965200" y="2413000"/>
            <a:ext cx="297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REQ04：按房型与时长完成酒店预订，用户提交真实评价后，系统实时计算并同步酒店均分，形成消费闭环。</a:t>
            </a:r>
            <a:endParaRPr lang="en-US" sz="1100"/>
          </a:p>
        </p:txBody>
      </p:sp>
      <p:sp>
        <p:nvSpPr>
          <p:cNvPr id="8" name="AutoShape 8"/>
          <p:cNvSpPr/>
          <p:nvPr/>
        </p:nvSpPr>
        <p:spPr>
          <a:xfrm>
            <a:off x="4406900" y="1778000"/>
            <a:ext cx="3378200" cy="1968500"/>
          </a:xfrm>
          <a:prstGeom prst="roundRect">
            <a:avLst>
              <a:gd name="adj" fmla="val 0"/>
            </a:avLst>
          </a:prstGeom>
          <a:solidFill>
            <a:srgbClr val="FFFFFF">
              <a:alpha val="7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10100" y="1981200"/>
            <a:ext cx="304800" cy="304800"/>
          </a:xfrm>
          <a:prstGeom prst="rect">
            <a:avLst/>
          </a:prstGeom>
        </p:spPr>
      </p:pic>
      <p:sp>
        <p:nvSpPr>
          <p:cNvPr id="10" name="AutoShape 10"/>
          <p:cNvSpPr/>
          <p:nvPr/>
        </p:nvSpPr>
        <p:spPr>
          <a:xfrm>
            <a:off x="5016500" y="19558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状态流转模型</a:t>
            </a:r>
            <a:endParaRPr lang="en-US" sz="1100"/>
          </a:p>
        </p:txBody>
      </p:sp>
      <p:sp>
        <p:nvSpPr>
          <p:cNvPr id="11" name="AutoShape 11"/>
          <p:cNvSpPr/>
          <p:nvPr/>
        </p:nvSpPr>
        <p:spPr>
          <a:xfrm>
            <a:off x="4610100" y="2413000"/>
            <a:ext cx="297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SYS/COMP/OBJ-SEQ04：订单状态从 pos=4（待评价）流转至 pos=5（已评价），通过状态机确保评价流程的完整性与不可逆性。</a:t>
            </a:r>
            <a:endParaRPr lang="en-US" sz="1100"/>
          </a:p>
        </p:txBody>
      </p:sp>
      <p:sp>
        <p:nvSpPr>
          <p:cNvPr id="12" name="AutoShape 12"/>
          <p:cNvSpPr/>
          <p:nvPr/>
        </p:nvSpPr>
        <p:spPr>
          <a:xfrm>
            <a:off x="8051800" y="1778000"/>
            <a:ext cx="3378200" cy="1968500"/>
          </a:xfrm>
          <a:prstGeom prst="roundRect">
            <a:avLst>
              <a:gd name="adj" fmla="val 0"/>
            </a:avLst>
          </a:prstGeom>
          <a:solidFill>
            <a:srgbClr val="FFFFFF">
              <a:alpha val="7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55000" y="1981200"/>
            <a:ext cx="304800" cy="304800"/>
          </a:xfrm>
          <a:prstGeom prst="rect">
            <a:avLst/>
          </a:prstGeom>
        </p:spPr>
      </p:pic>
      <p:sp>
        <p:nvSpPr>
          <p:cNvPr id="14" name="AutoShape 14"/>
          <p:cNvSpPr/>
          <p:nvPr/>
        </p:nvSpPr>
        <p:spPr>
          <a:xfrm>
            <a:off x="8661400" y="19558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核心代码链路</a:t>
            </a:r>
            <a:endParaRPr lang="en-US" sz="1100"/>
          </a:p>
        </p:txBody>
      </p:sp>
      <p:sp>
        <p:nvSpPr>
          <p:cNvPr id="15" name="AutoShape 15"/>
          <p:cNvSpPr/>
          <p:nvPr/>
        </p:nvSpPr>
        <p:spPr>
          <a:xfrm>
            <a:off x="8255000" y="2413000"/>
            <a:ext cx="297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核心模块：service_views.hotel；关键函数：save_hotel_review（评价持久化）、update_hotel_rating（均分动态更新）。</a:t>
            </a:r>
            <a:endParaRPr lang="en-US" sz="1100"/>
          </a:p>
        </p:txBody>
      </p:sp>
      <p:sp>
        <p:nvSpPr>
          <p:cNvPr id="16" name="AutoShape 16"/>
          <p:cNvSpPr/>
          <p:nvPr/>
        </p:nvSpPr>
        <p:spPr>
          <a:xfrm>
            <a:off x="762000" y="4064000"/>
            <a:ext cx="3378200" cy="1968500"/>
          </a:xfrm>
          <a:prstGeom prst="roundRect">
            <a:avLst>
              <a:gd name="adj" fmla="val 0"/>
            </a:avLst>
          </a:prstGeom>
          <a:solidFill>
            <a:srgbClr val="FFFFFF">
              <a:alpha val="7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5200" y="4267200"/>
            <a:ext cx="304800" cy="304800"/>
          </a:xfrm>
          <a:prstGeom prst="rect">
            <a:avLst/>
          </a:prstGeom>
        </p:spPr>
      </p:pic>
      <p:sp>
        <p:nvSpPr>
          <p:cNvPr id="18" name="AutoShape 18"/>
          <p:cNvSpPr/>
          <p:nvPr/>
        </p:nvSpPr>
        <p:spPr>
          <a:xfrm>
            <a:off x="1371600" y="42418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单元测试覆盖</a:t>
            </a:r>
            <a:endParaRPr lang="en-US" sz="1100"/>
          </a:p>
        </p:txBody>
      </p:sp>
      <p:sp>
        <p:nvSpPr>
          <p:cNvPr id="19" name="AutoShape 19"/>
          <p:cNvSpPr/>
          <p:nvPr/>
        </p:nvSpPr>
        <p:spPr>
          <a:xfrm>
            <a:off x="965200" y="4699000"/>
            <a:ext cx="297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验证房型价格映射逻辑（HotelPriceRuleTest）；校验评分规则与均分聚合算法（HotelReviewRuleTest），确保计算准确。</a:t>
            </a:r>
            <a:endParaRPr lang="en-US" sz="1100"/>
          </a:p>
        </p:txBody>
      </p:sp>
      <p:sp>
        <p:nvSpPr>
          <p:cNvPr id="20" name="AutoShape 20"/>
          <p:cNvSpPr/>
          <p:nvPr/>
        </p:nvSpPr>
        <p:spPr>
          <a:xfrm>
            <a:off x="4406900" y="4064000"/>
            <a:ext cx="3378200" cy="1968500"/>
          </a:xfrm>
          <a:prstGeom prst="roundRect">
            <a:avLst>
              <a:gd name="adj" fmla="val 0"/>
            </a:avLst>
          </a:prstGeom>
          <a:solidFill>
            <a:srgbClr val="FFFFFF">
              <a:alpha val="7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4610100" y="4267200"/>
            <a:ext cx="304800" cy="304800"/>
          </a:xfrm>
          <a:prstGeom prst="rect">
            <a:avLst/>
          </a:prstGeom>
        </p:spPr>
      </p:pic>
      <p:sp>
        <p:nvSpPr>
          <p:cNvPr id="22" name="AutoShape 22"/>
          <p:cNvSpPr/>
          <p:nvPr/>
        </p:nvSpPr>
        <p:spPr>
          <a:xfrm>
            <a:off x="5016500" y="42418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集成与API测试</a:t>
            </a:r>
            <a:endParaRPr lang="en-US" sz="1100"/>
          </a:p>
        </p:txBody>
      </p:sp>
      <p:sp>
        <p:nvSpPr>
          <p:cNvPr id="23" name="AutoShape 23"/>
          <p:cNvSpPr/>
          <p:nvPr/>
        </p:nvSpPr>
        <p:spPr>
          <a:xfrm>
            <a:off x="4610100" y="4699000"/>
            <a:ext cx="297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HotelApiTest：全覆盖业务链路，包括列表查询、搜索筛选、详情展示、预订下单、权限控制及评价提交的接口联调。</a:t>
            </a:r>
            <a:endParaRPr lang="en-US" sz="1100"/>
          </a:p>
        </p:txBody>
      </p:sp>
      <p:sp>
        <p:nvSpPr>
          <p:cNvPr id="24" name="AutoShape 24"/>
          <p:cNvSpPr/>
          <p:nvPr/>
        </p:nvSpPr>
        <p:spPr>
          <a:xfrm>
            <a:off x="8051800" y="4064000"/>
            <a:ext cx="3378200" cy="1968500"/>
          </a:xfrm>
          <a:prstGeom prst="roundRect">
            <a:avLst>
              <a:gd name="adj" fmla="val 0"/>
            </a:avLst>
          </a:prstGeom>
          <a:solidFill>
            <a:srgbClr val="FFFFFF">
              <a:alpha val="7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8255000" y="4267200"/>
            <a:ext cx="304800" cy="304800"/>
          </a:xfrm>
          <a:prstGeom prst="rect">
            <a:avLst/>
          </a:prstGeom>
        </p:spPr>
      </p:pic>
      <p:sp>
        <p:nvSpPr>
          <p:cNvPr id="26" name="AutoShape 26"/>
          <p:cNvSpPr/>
          <p:nvPr/>
        </p:nvSpPr>
        <p:spPr>
          <a:xfrm>
            <a:off x="8661400" y="4241800"/>
            <a:ext cx="2667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端到端验收结果</a:t>
            </a:r>
            <a:endParaRPr lang="en-US" sz="1100"/>
          </a:p>
        </p:txBody>
      </p:sp>
      <p:sp>
        <p:nvSpPr>
          <p:cNvPr id="27" name="AutoShape 27"/>
          <p:cNvSpPr/>
          <p:nvPr/>
        </p:nvSpPr>
        <p:spPr>
          <a:xfrm>
            <a:off x="8255000" y="4699000"/>
            <a:ext cx="2971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执行全流程场景测试（test_full_hotel_scenario）及异常分支测试，2项核心验证全部 PASSED，保障业务零缺陷。</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代表用例 3: UC07 发布内容与社区互动</a:t>
            </a:r>
            <a:endParaRPr lang="en-US" sz="1100"/>
          </a:p>
        </p:txBody>
      </p:sp>
      <p:sp>
        <p:nvSpPr>
          <p:cNvPr id="4" name="AutoShape 4"/>
          <p:cNvSpPr/>
          <p:nvPr/>
        </p:nvSpPr>
        <p:spPr>
          <a:xfrm>
            <a:off x="762000" y="1778000"/>
            <a:ext cx="5207000" cy="1460500"/>
          </a:xfrm>
          <a:prstGeom prst="roundRect">
            <a:avLst>
              <a:gd name="adj" fmla="val 0"/>
            </a:avLst>
          </a:prstGeom>
          <a:solidFill>
            <a:srgbClr val="FFFFFF">
              <a:alpha val="7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06600"/>
            <a:ext cx="355600" cy="355600"/>
          </a:xfrm>
          <a:prstGeom prst="rect">
            <a:avLst/>
          </a:prstGeom>
        </p:spPr>
      </p:pic>
      <p:sp>
        <p:nvSpPr>
          <p:cNvPr id="6" name="AutoShape 6"/>
          <p:cNvSpPr/>
          <p:nvPr/>
        </p:nvSpPr>
        <p:spPr>
          <a:xfrm>
            <a:off x="1524000" y="2006600"/>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业务需求定义 (REQ07)</a:t>
            </a:r>
            <a:endParaRPr lang="en-US" sz="1100"/>
          </a:p>
        </p:txBody>
      </p:sp>
      <p:sp>
        <p:nvSpPr>
          <p:cNvPr id="7" name="AutoShape 7"/>
          <p:cNvSpPr/>
          <p:nvPr/>
        </p:nvSpPr>
        <p:spPr>
          <a:xfrm>
            <a:off x="1016000" y="2413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支持用户发布、搜索及阅读博客，实现评论互动功能；允许用户对本人发布的内容进行逻辑删除，保障社区内容的动态管理与用户权益。</a:t>
            </a:r>
            <a:endParaRPr lang="en-US" sz="1100"/>
          </a:p>
        </p:txBody>
      </p:sp>
      <p:sp>
        <p:nvSpPr>
          <p:cNvPr id="8" name="AutoShape 8"/>
          <p:cNvSpPr/>
          <p:nvPr/>
        </p:nvSpPr>
        <p:spPr>
          <a:xfrm>
            <a:off x="762000" y="3429000"/>
            <a:ext cx="5207000" cy="1460500"/>
          </a:xfrm>
          <a:prstGeom prst="roundRect">
            <a:avLst>
              <a:gd name="adj" fmla="val 0"/>
            </a:avLst>
          </a:prstGeom>
          <a:solidFill>
            <a:srgbClr val="FFFFFF">
              <a:alpha val="7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3657600"/>
            <a:ext cx="355600" cy="355600"/>
          </a:xfrm>
          <a:prstGeom prst="rect">
            <a:avLst/>
          </a:prstGeom>
        </p:spPr>
      </p:pic>
      <p:sp>
        <p:nvSpPr>
          <p:cNvPr id="10" name="AutoShape 10"/>
          <p:cNvSpPr/>
          <p:nvPr/>
        </p:nvSpPr>
        <p:spPr>
          <a:xfrm>
            <a:off x="1524000" y="3657600"/>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模型映射与代码实现</a:t>
            </a:r>
            <a:endParaRPr lang="en-US" sz="1100"/>
          </a:p>
        </p:txBody>
      </p:sp>
      <p:sp>
        <p:nvSpPr>
          <p:cNvPr id="11" name="AutoShape 11"/>
          <p:cNvSpPr/>
          <p:nvPr/>
        </p:nvSpPr>
        <p:spPr>
          <a:xfrm>
            <a:off x="1016000" y="4064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基于三层模型 SYS/COMP/OBJ-SEQ07 构建；核心代码模块覆盖 blog、blogsend、blogsdetails、blogcomment 及删除接口，实现完整的业务闭环。</a:t>
            </a:r>
            <a:endParaRPr lang="en-US" sz="1100"/>
          </a:p>
        </p:txBody>
      </p:sp>
      <p:sp>
        <p:nvSpPr>
          <p:cNvPr id="12" name="AutoShape 12"/>
          <p:cNvSpPr/>
          <p:nvPr/>
        </p:nvSpPr>
        <p:spPr>
          <a:xfrm>
            <a:off x="762000" y="5080000"/>
            <a:ext cx="5207000" cy="1460500"/>
          </a:xfrm>
          <a:prstGeom prst="roundRect">
            <a:avLst>
              <a:gd name="adj" fmla="val 0"/>
            </a:avLst>
          </a:prstGeom>
          <a:solidFill>
            <a:srgbClr val="FFFFFF">
              <a:alpha val="7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308600"/>
            <a:ext cx="355600" cy="355600"/>
          </a:xfrm>
          <a:prstGeom prst="rect">
            <a:avLst/>
          </a:prstGeom>
        </p:spPr>
      </p:pic>
      <p:sp>
        <p:nvSpPr>
          <p:cNvPr id="14" name="AutoShape 14"/>
          <p:cNvSpPr/>
          <p:nvPr/>
        </p:nvSpPr>
        <p:spPr>
          <a:xfrm>
            <a:off x="1524000" y="5308600"/>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边界与异常校验测试</a:t>
            </a:r>
            <a:endParaRPr lang="en-US" sz="1100"/>
          </a:p>
        </p:txBody>
      </p:sp>
      <p:sp>
        <p:nvSpPr>
          <p:cNvPr id="15" name="AutoShape 15"/>
          <p:cNvSpPr/>
          <p:nvPr/>
        </p:nvSpPr>
        <p:spPr>
          <a:xfrm>
            <a:off x="1016000" y="5715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重点验证空标题/正文的合法性拦截、评论内容超长限制，以及越权删除的安全防御机制，确保系统数据的合规性与健壮性。</a:t>
            </a:r>
            <a:endParaRPr lang="en-US" sz="1100"/>
          </a:p>
        </p:txBody>
      </p:sp>
      <p:sp>
        <p:nvSpPr>
          <p:cNvPr id="16" name="AutoShape 16"/>
          <p:cNvSpPr/>
          <p:nvPr/>
        </p:nvSpPr>
        <p:spPr>
          <a:xfrm>
            <a:off x="6223000" y="1778000"/>
            <a:ext cx="5207000" cy="1460500"/>
          </a:xfrm>
          <a:prstGeom prst="roundRect">
            <a:avLst>
              <a:gd name="adj" fmla="val 0"/>
            </a:avLst>
          </a:prstGeom>
          <a:solidFill>
            <a:srgbClr val="FFFFFF">
              <a:alpha val="7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2006600"/>
            <a:ext cx="355600" cy="355600"/>
          </a:xfrm>
          <a:prstGeom prst="rect">
            <a:avLst/>
          </a:prstGeom>
        </p:spPr>
      </p:pic>
      <p:sp>
        <p:nvSpPr>
          <p:cNvPr id="18" name="AutoShape 18"/>
          <p:cNvSpPr/>
          <p:nvPr/>
        </p:nvSpPr>
        <p:spPr>
          <a:xfrm>
            <a:off x="6985000" y="2006600"/>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接口集成验证 (API Test)</a:t>
            </a:r>
            <a:endParaRPr lang="en-US" sz="1100"/>
          </a:p>
        </p:txBody>
      </p:sp>
      <p:sp>
        <p:nvSpPr>
          <p:cNvPr id="19" name="AutoShape 19"/>
          <p:cNvSpPr/>
          <p:nvPr/>
        </p:nvSpPr>
        <p:spPr>
          <a:xfrm>
            <a:off x="6477000" y="2413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 BlogApiTest 对发布、列表查询、详情获取、评论交互及删除接口进行全覆盖测试，验证 AJAX 请求响应的准确性与数据一致性。</a:t>
            </a:r>
            <a:endParaRPr lang="en-US" sz="1100"/>
          </a:p>
        </p:txBody>
      </p:sp>
      <p:sp>
        <p:nvSpPr>
          <p:cNvPr id="20" name="AutoShape 20"/>
          <p:cNvSpPr/>
          <p:nvPr/>
        </p:nvSpPr>
        <p:spPr>
          <a:xfrm>
            <a:off x="6223000" y="3429000"/>
            <a:ext cx="5207000" cy="1460500"/>
          </a:xfrm>
          <a:prstGeom prst="roundRect">
            <a:avLst>
              <a:gd name="adj" fmla="val 0"/>
            </a:avLst>
          </a:prstGeom>
          <a:solidFill>
            <a:srgbClr val="FFFFFF">
              <a:alpha val="7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3657600"/>
            <a:ext cx="355600" cy="355600"/>
          </a:xfrm>
          <a:prstGeom prst="rect">
            <a:avLst/>
          </a:prstGeom>
        </p:spPr>
      </p:pic>
      <p:sp>
        <p:nvSpPr>
          <p:cNvPr id="22" name="AutoShape 22"/>
          <p:cNvSpPr/>
          <p:nvPr/>
        </p:nvSpPr>
        <p:spPr>
          <a:xfrm>
            <a:off x="6985000" y="3657600"/>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端到端全链路覆盖 (E2E)</a:t>
            </a:r>
            <a:endParaRPr lang="en-US" sz="1100"/>
          </a:p>
        </p:txBody>
      </p:sp>
      <p:sp>
        <p:nvSpPr>
          <p:cNvPr id="23" name="AutoShape 23"/>
          <p:cNvSpPr/>
          <p:nvPr/>
        </p:nvSpPr>
        <p:spPr>
          <a:xfrm>
            <a:off x="6477000" y="4064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执行完整业务场景测试（test_full_blog_scenario）及异常分支验证（test_uc07_abnormal_branches），确保用户操作流程无阻断。</a:t>
            </a:r>
            <a:endParaRPr lang="en-US" sz="1100"/>
          </a:p>
        </p:txBody>
      </p:sp>
      <p:sp>
        <p:nvSpPr>
          <p:cNvPr id="24" name="AutoShape 24"/>
          <p:cNvSpPr/>
          <p:nvPr/>
        </p:nvSpPr>
        <p:spPr>
          <a:xfrm>
            <a:off x="6223000" y="5080000"/>
            <a:ext cx="5207000" cy="1460500"/>
          </a:xfrm>
          <a:prstGeom prst="roundRect">
            <a:avLst>
              <a:gd name="adj" fmla="val 0"/>
            </a:avLst>
          </a:prstGeom>
          <a:solidFill>
            <a:srgbClr val="FFFFFF">
              <a:alpha val="7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5308600"/>
            <a:ext cx="355600" cy="355600"/>
          </a:xfrm>
          <a:prstGeom prst="rect">
            <a:avLst/>
          </a:prstGeom>
        </p:spPr>
      </p:pic>
      <p:sp>
        <p:nvSpPr>
          <p:cNvPr id="26" name="AutoShape 26"/>
          <p:cNvSpPr/>
          <p:nvPr/>
        </p:nvSpPr>
        <p:spPr>
          <a:xfrm>
            <a:off x="6985000" y="5308600"/>
            <a:ext cx="43180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质量验收结果：全部通过</a:t>
            </a:r>
            <a:endParaRPr lang="en-US" sz="1100"/>
          </a:p>
        </p:txBody>
      </p:sp>
      <p:sp>
        <p:nvSpPr>
          <p:cNvPr id="27" name="AutoShape 27"/>
          <p:cNvSpPr/>
          <p:nvPr/>
        </p:nvSpPr>
        <p:spPr>
          <a:xfrm>
            <a:off x="6477000" y="5715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 E2E 测试项全部 PASSED，接口响应符合预期，社区互动功能稳定可靠，完全满足上线标准与用户体验要求。</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模型与代码：从单体到微服务的演变</a:t>
            </a:r>
            <a:endParaRPr lang="en-US" sz="1100"/>
          </a:p>
        </p:txBody>
      </p:sp>
      <p:sp>
        <p:nvSpPr>
          <p:cNvPr id="4" name="AutoShape 4"/>
          <p:cNvSpPr/>
          <p:nvPr>
            <p:custDataLst>
              <p:tags r:id="rId2"/>
            </p:custDataLst>
          </p:nvPr>
        </p:nvSpPr>
        <p:spPr>
          <a:xfrm>
            <a:off x="762000" y="1778000"/>
            <a:ext cx="5207000" cy="2921000"/>
          </a:xfrm>
          <a:prstGeom prst="roundRect">
            <a:avLst>
              <a:gd name="adj" fmla="val 0"/>
            </a:avLst>
          </a:prstGeom>
          <a:solidFill>
            <a:srgbClr val="FFFFFF">
              <a:alpha val="7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952500" y="1968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单体模型层：一体化定义</a:t>
            </a:r>
            <a:endParaRPr lang="en-US" sz="1100"/>
          </a:p>
        </p:txBody>
      </p:sp>
      <p:sp>
        <p:nvSpPr>
          <p:cNvPr id="6" name="AutoShape 6"/>
          <p:cNvSpPr/>
          <p:nvPr>
            <p:custDataLst>
              <p:tags r:id="rId4"/>
            </p:custDataLst>
          </p:nvPr>
        </p:nvSpPr>
        <p:spPr>
          <a:xfrm>
            <a:off x="952500" y="2413000"/>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 Django Model 定义 11 张核心业务表，将业务规则（如字段校验、状态机）直接编码进模型层，实现数据结构与业务逻辑的强绑定，保证数据一致性。</a:t>
            </a:r>
            <a:endParaRPr lang="en-US" sz="1100"/>
          </a:p>
        </p:txBody>
      </p:sp>
      <p:sp>
        <p:nvSpPr>
          <p:cNvPr id="7" name="AutoShape 7"/>
          <p:cNvSpPr/>
          <p:nvPr>
            <p:custDataLst>
              <p:tags r:id="rId5"/>
            </p:custDataLst>
          </p:nvPr>
        </p:nvSpPr>
        <p:spPr>
          <a:xfrm>
            <a:off x="952500" y="3556000"/>
            <a:ext cx="4826000" cy="96266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custDataLst>
              <p:tags r:id="rId6"/>
            </p:custDataLst>
          </p:nvPr>
        </p:nvSpPr>
        <p:spPr>
          <a:xfrm>
            <a:off x="1079500" y="3683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关键约束示例：</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Food.rating：0~5分强制校验 (Min/MaxValidator)</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Order.pos：0~5 状态机流转控制，确保订单状态合法</a:t>
            </a:r>
            <a:endParaRPr lang="en-US" sz="1100"/>
          </a:p>
        </p:txBody>
      </p:sp>
      <p:sp>
        <p:nvSpPr>
          <p:cNvPr id="9" name="AutoShape 9"/>
          <p:cNvSpPr/>
          <p:nvPr>
            <p:custDataLst>
              <p:tags r:id="rId7"/>
            </p:custDataLst>
          </p:nvPr>
        </p:nvSpPr>
        <p:spPr>
          <a:xfrm>
            <a:off x="6223000" y="1778000"/>
            <a:ext cx="5207000" cy="2921000"/>
          </a:xfrm>
          <a:prstGeom prst="roundRect">
            <a:avLst>
              <a:gd name="adj" fmla="val 0"/>
            </a:avLst>
          </a:prstGeom>
          <a:solidFill>
            <a:srgbClr val="FFFFFF">
              <a:alpha val="7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10" name="AutoShape 10"/>
          <p:cNvSpPr/>
          <p:nvPr>
            <p:custDataLst>
              <p:tags r:id="rId8"/>
            </p:custDataLst>
          </p:nvPr>
        </p:nvSpPr>
        <p:spPr>
          <a:xfrm>
            <a:off x="6413500" y="1968500"/>
            <a:ext cx="4826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微服务模型层：领域拆分与解耦</a:t>
            </a:r>
            <a:endParaRPr lang="en-US" sz="1100"/>
          </a:p>
        </p:txBody>
      </p:sp>
      <p:sp>
        <p:nvSpPr>
          <p:cNvPr id="11" name="AutoShape 11"/>
          <p:cNvSpPr/>
          <p:nvPr>
            <p:custDataLst>
              <p:tags r:id="rId9"/>
            </p:custDataLst>
          </p:nvPr>
        </p:nvSpPr>
        <p:spPr>
          <a:xfrm>
            <a:off x="6413500" y="2413000"/>
            <a:ext cx="4826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按业务领域垂直拆分独立服务，同服务内保留真实外键并显式指定 db_table；跨服务关联关系“降级”为裸 ID，彻底消除跨库联表依赖，实现服务独立部署与扩展。</a:t>
            </a:r>
            <a:endParaRPr lang="en-US" sz="1100"/>
          </a:p>
        </p:txBody>
      </p:sp>
      <p:sp>
        <p:nvSpPr>
          <p:cNvPr id="12" name="AutoShape 12"/>
          <p:cNvSpPr/>
          <p:nvPr>
            <p:custDataLst>
              <p:tags r:id="rId10"/>
            </p:custDataLst>
          </p:nvPr>
        </p:nvSpPr>
        <p:spPr>
          <a:xfrm>
            <a:off x="6413500" y="3556000"/>
            <a:ext cx="4826000" cy="96266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custDataLst>
              <p:tags r:id="rId11"/>
            </p:custDataLst>
          </p:nvPr>
        </p:nvSpPr>
        <p:spPr>
          <a:xfrm>
            <a:off x="6540500" y="3683000"/>
            <a:ext cx="457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典型拆分策略：</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用户服务：独立维护 User 模型，保持不变</a:t>
            </a:r>
            <a:br>
              <a:rPr lang="en-US" sz="13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交易服务：承载 Food/Order，外键改为 merchant_id 等裸 ID</a:t>
            </a:r>
            <a:endParaRPr lang="en-US" sz="1100"/>
          </a:p>
        </p:txBody>
      </p:sp>
      <p:sp>
        <p:nvSpPr>
          <p:cNvPr id="14" name="AutoShape 14"/>
          <p:cNvSpPr/>
          <p:nvPr/>
        </p:nvSpPr>
        <p:spPr>
          <a:xfrm>
            <a:off x="762000" y="4953000"/>
            <a:ext cx="10668000" cy="1397000"/>
          </a:xfrm>
          <a:prstGeom prst="roundRect">
            <a:avLst>
              <a:gd name="adj" fmla="val 0"/>
            </a:avLst>
          </a:prstGeom>
          <a:solidFill>
            <a:srgbClr val="22C55E">
              <a:alpha val="12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346700"/>
            <a:ext cx="609600" cy="609600"/>
          </a:xfrm>
          <a:prstGeom prst="rect">
            <a:avLst/>
          </a:prstGeom>
        </p:spPr>
      </p:pic>
      <p:sp>
        <p:nvSpPr>
          <p:cNvPr id="16" name="AutoShape 16"/>
          <p:cNvSpPr/>
          <p:nvPr/>
        </p:nvSpPr>
        <p:spPr>
          <a:xfrm>
            <a:off x="1841500" y="5143500"/>
            <a:ext cx="92710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核心技术改造：外键降级为“裸 ID” + 接口聚合</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将原有的 `ForeignKey(User)` 替换为 `BigIntegerField(db_index=True)`，通过调用用户服务的 `/internal/users` 批量接口实现数据聚合。这种改造既保证了数据一致性，又实现了服务间的解耦，是微服务拆分中最关键的技术手段之一。</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微服务架构设计：服务划分依据</a:t>
            </a:r>
            <a:endParaRPr lang="en-US" sz="1100"/>
          </a:p>
        </p:txBody>
      </p:sp>
      <p:sp>
        <p:nvSpPr>
          <p:cNvPr id="4" name="AutoShape 4"/>
          <p:cNvSpPr/>
          <p:nvPr/>
        </p:nvSpPr>
        <p:spPr>
          <a:xfrm>
            <a:off x="762000" y="2032000"/>
            <a:ext cx="3378200" cy="3556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349500"/>
            <a:ext cx="406400" cy="406400"/>
          </a:xfrm>
          <a:prstGeom prst="rect">
            <a:avLst/>
          </a:prstGeom>
        </p:spPr>
      </p:pic>
      <p:sp>
        <p:nvSpPr>
          <p:cNvPr id="6" name="AutoShape 6"/>
          <p:cNvSpPr/>
          <p:nvPr/>
        </p:nvSpPr>
        <p:spPr>
          <a:xfrm>
            <a:off x="1524000" y="2349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用户服务：基础横切</a:t>
            </a:r>
            <a:endParaRPr lang="en-US" sz="1100"/>
          </a:p>
        </p:txBody>
      </p:sp>
      <p:sp>
        <p:nvSpPr>
          <p:cNvPr id="7" name="AutoShape 7"/>
          <p:cNvSpPr/>
          <p:nvPr/>
        </p:nvSpPr>
        <p:spPr>
          <a:xfrm>
            <a:off x="1016000" y="2921000"/>
            <a:ext cx="2870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user-service · 独立演进</a:t>
            </a:r>
            <a:endParaRPr lang="en-US" sz="1100"/>
          </a:p>
        </p:txBody>
      </p:sp>
      <p:sp>
        <p:nvSpPr>
          <p:cNvPr id="8" name="AutoShape 8"/>
          <p:cNvSpPr/>
          <p:nvPr/>
        </p:nvSpPr>
        <p:spPr>
          <a:xfrm>
            <a:off x="1016000" y="3365500"/>
            <a:ext cx="2870200" cy="12700"/>
          </a:xfrm>
          <a:prstGeom prst="roundRect">
            <a:avLst>
              <a:gd name="adj" fmla="val 0"/>
            </a:avLst>
          </a:prstGeom>
          <a:solidFill>
            <a:srgbClr val="22C55E">
              <a:alpha val="2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16000" y="3556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账号体系是所有业务的底层基石，独立拆分后可实现认证、风控与账号治理的独立迭代，避免与上层业务强耦合，为系统提供稳固的基础支撑。</a:t>
            </a:r>
            <a:endParaRPr lang="en-US" sz="1100"/>
          </a:p>
        </p:txBody>
      </p:sp>
      <p:sp>
        <p:nvSpPr>
          <p:cNvPr id="10" name="AutoShape 10"/>
          <p:cNvSpPr/>
          <p:nvPr/>
        </p:nvSpPr>
        <p:spPr>
          <a:xfrm>
            <a:off x="4394200" y="2032000"/>
            <a:ext cx="3378200" cy="3556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48200" y="2349500"/>
            <a:ext cx="406400" cy="406400"/>
          </a:xfrm>
          <a:prstGeom prst="rect">
            <a:avLst/>
          </a:prstGeom>
        </p:spPr>
      </p:pic>
      <p:sp>
        <p:nvSpPr>
          <p:cNvPr id="12" name="AutoShape 12"/>
          <p:cNvSpPr/>
          <p:nvPr/>
        </p:nvSpPr>
        <p:spPr>
          <a:xfrm>
            <a:off x="5156200" y="2349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交易服务：核心引擎</a:t>
            </a:r>
            <a:endParaRPr lang="en-US" sz="1100"/>
          </a:p>
        </p:txBody>
      </p:sp>
      <p:sp>
        <p:nvSpPr>
          <p:cNvPr id="13" name="AutoShape 13"/>
          <p:cNvSpPr/>
          <p:nvPr/>
        </p:nvSpPr>
        <p:spPr>
          <a:xfrm>
            <a:off x="4648200" y="2921000"/>
            <a:ext cx="2870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trade-service · 高可用保障</a:t>
            </a:r>
            <a:endParaRPr lang="en-US" sz="1100"/>
          </a:p>
        </p:txBody>
      </p:sp>
      <p:sp>
        <p:nvSpPr>
          <p:cNvPr id="14" name="AutoShape 14"/>
          <p:cNvSpPr/>
          <p:nvPr/>
        </p:nvSpPr>
        <p:spPr>
          <a:xfrm>
            <a:off x="4648200" y="3365500"/>
            <a:ext cx="2870200" cy="12700"/>
          </a:xfrm>
          <a:prstGeom prst="roundRect">
            <a:avLst>
              <a:gd name="adj" fmla="val 0"/>
            </a:avLst>
          </a:prstGeom>
          <a:solidFill>
            <a:srgbClr val="22C55E">
              <a:alpha val="2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4648200" y="3556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承载最复杂的订单状态流转与三方协作，对一致性要求极高。将Food与Order置于同服务，利用本地事务保障销量实时同步，规避分布式事务风险，同时便于独立扩容应对高并发。</a:t>
            </a:r>
            <a:endParaRPr lang="en-US" sz="1100"/>
          </a:p>
        </p:txBody>
      </p:sp>
      <p:sp>
        <p:nvSpPr>
          <p:cNvPr id="16" name="AutoShape 16"/>
          <p:cNvSpPr/>
          <p:nvPr/>
        </p:nvSpPr>
        <p:spPr>
          <a:xfrm>
            <a:off x="8026400" y="2032000"/>
            <a:ext cx="3378200" cy="35560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280400" y="2349500"/>
            <a:ext cx="406400" cy="406400"/>
          </a:xfrm>
          <a:prstGeom prst="rect">
            <a:avLst/>
          </a:prstGeom>
        </p:spPr>
      </p:pic>
      <p:sp>
        <p:nvSpPr>
          <p:cNvPr id="18" name="AutoShape 18"/>
          <p:cNvSpPr/>
          <p:nvPr/>
        </p:nvSpPr>
        <p:spPr>
          <a:xfrm>
            <a:off x="8788400" y="2349500"/>
            <a:ext cx="2540000" cy="4064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生活服务：聚合协同</a:t>
            </a:r>
            <a:endParaRPr lang="en-US" sz="1100"/>
          </a:p>
        </p:txBody>
      </p:sp>
      <p:sp>
        <p:nvSpPr>
          <p:cNvPr id="19" name="AutoShape 19"/>
          <p:cNvSpPr/>
          <p:nvPr/>
        </p:nvSpPr>
        <p:spPr>
          <a:xfrm>
            <a:off x="8280400" y="2921000"/>
            <a:ext cx="2870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lifestyle-service · 降本增效</a:t>
            </a:r>
            <a:endParaRPr lang="en-US" sz="1100"/>
          </a:p>
        </p:txBody>
      </p:sp>
      <p:sp>
        <p:nvSpPr>
          <p:cNvPr id="20" name="AutoShape 20"/>
          <p:cNvSpPr/>
          <p:nvPr/>
        </p:nvSpPr>
        <p:spPr>
          <a:xfrm>
            <a:off x="8280400" y="3365500"/>
            <a:ext cx="2870200" cy="12700"/>
          </a:xfrm>
          <a:prstGeom prst="roundRect">
            <a:avLst>
              <a:gd name="adj" fmla="val 0"/>
            </a:avLst>
          </a:prstGeom>
          <a:solidFill>
            <a:srgbClr val="22C55E">
              <a:alpha val="2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8280400" y="3556000"/>
            <a:ext cx="2870200" cy="177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整合酒店、娱乐与社区等低频互动场景。此类业务模式相似、流量分散，合并部署不仅不会增加系统耦合度，反而能显著降低运维成本，提升资源利用率与迭代效率。</a:t>
            </a:r>
            <a:endParaRPr lang="en-US" sz="1100"/>
          </a:p>
        </p:txBody>
      </p:sp>
      <p:sp>
        <p:nvSpPr>
          <p:cNvPr id="22" name="AutoShape 22"/>
          <p:cNvSpPr/>
          <p:nvPr/>
        </p:nvSpPr>
        <p:spPr>
          <a:xfrm>
            <a:off x="762000" y="5905500"/>
            <a:ext cx="10668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400" b="0" i="1"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核心原则：基于业务边界、数据一致性需求与运维成本的综合考量，实现微服务的高效拆分与聚合，平衡系统的灵活性与稳定性。</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服务职责、接口与数据表归属</a:t>
            </a:r>
            <a:endParaRPr lang="en-US" sz="1100"/>
          </a:p>
        </p:txBody>
      </p:sp>
      <p:sp>
        <p:nvSpPr>
          <p:cNvPr id="4" name="AutoShape 4"/>
          <p:cNvSpPr/>
          <p:nvPr>
            <p:custDataLst>
              <p:tags r:id="rId2"/>
            </p:custDataLst>
          </p:nvPr>
        </p:nvSpPr>
        <p:spPr>
          <a:xfrm>
            <a:off x="762000" y="1778000"/>
            <a:ext cx="3429000" cy="319278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952500" y="1968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 User Service</a:t>
            </a:r>
            <a:endParaRPr lang="en-US" sz="1100"/>
          </a:p>
        </p:txBody>
      </p:sp>
      <p:sp>
        <p:nvSpPr>
          <p:cNvPr id="6" name="AutoShape 6"/>
          <p:cNvSpPr/>
          <p:nvPr>
            <p:custDataLst>
              <p:tags r:id="rId4"/>
            </p:custDataLst>
          </p:nvPr>
        </p:nvSpPr>
        <p:spPr>
          <a:xfrm>
            <a:off x="952500" y="2413000"/>
            <a:ext cx="1079500" cy="2794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custDataLst>
              <p:tags r:id="rId5"/>
            </p:custDataLst>
          </p:nvPr>
        </p:nvSpPr>
        <p:spPr>
          <a:xfrm>
            <a:off x="952500" y="2413000"/>
            <a:ext cx="1079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Port: 8001</a:t>
            </a:r>
            <a:endParaRPr lang="en-US" sz="1100"/>
          </a:p>
        </p:txBody>
      </p:sp>
      <p:cxnSp>
        <p:nvCxnSpPr>
          <p:cNvPr id="8" name="Connector 8"/>
          <p:cNvCxnSpPr/>
          <p:nvPr>
            <p:custDataLst>
              <p:tags r:id="rId6"/>
            </p:custDataLst>
          </p:nvPr>
        </p:nvCxnSpPr>
        <p:spPr>
          <a:xfrm rot="-14323">
            <a:off x="952513" y="2851150"/>
            <a:ext cx="30480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9" name="AutoShape 9"/>
          <p:cNvSpPr/>
          <p:nvPr>
            <p:custDataLst>
              <p:tags r:id="rId7"/>
            </p:custDataLst>
          </p:nvPr>
        </p:nvSpPr>
        <p:spPr>
          <a:xfrm>
            <a:off x="952500" y="29845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核心负责用户全生命周期管理，涵盖注册认证、登录授权、会话状态维护及角色权限判定。</a:t>
            </a:r>
            <a:endParaRPr lang="en-US" sz="1100"/>
          </a:p>
        </p:txBody>
      </p:sp>
      <p:sp>
        <p:nvSpPr>
          <p:cNvPr id="10" name="AutoShape 10"/>
          <p:cNvSpPr/>
          <p:nvPr/>
        </p:nvSpPr>
        <p:spPr>
          <a:xfrm>
            <a:off x="952500" y="375285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数据归属：</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user_db (User表)</a:t>
            </a:r>
            <a:endParaRPr lang="en-US" sz="1100"/>
          </a:p>
        </p:txBody>
      </p:sp>
      <p:sp>
        <p:nvSpPr>
          <p:cNvPr id="11" name="AutoShape 11"/>
          <p:cNvSpPr/>
          <p:nvPr/>
        </p:nvSpPr>
        <p:spPr>
          <a:xfrm>
            <a:off x="952500" y="41910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关键用例：</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UC01(注册), UC09(鉴权)</a:t>
            </a:r>
            <a:endParaRPr lang="en-US" sz="1100"/>
          </a:p>
        </p:txBody>
      </p:sp>
      <p:sp>
        <p:nvSpPr>
          <p:cNvPr id="12" name="AutoShape 12"/>
          <p:cNvSpPr/>
          <p:nvPr>
            <p:custDataLst>
              <p:tags r:id="rId8"/>
            </p:custDataLst>
          </p:nvPr>
        </p:nvSpPr>
        <p:spPr>
          <a:xfrm>
            <a:off x="4381500" y="1778000"/>
            <a:ext cx="3429000" cy="3198495"/>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13" name="AutoShape 13"/>
          <p:cNvSpPr/>
          <p:nvPr>
            <p:custDataLst>
              <p:tags r:id="rId9"/>
            </p:custDataLst>
          </p:nvPr>
        </p:nvSpPr>
        <p:spPr>
          <a:xfrm>
            <a:off x="4572000" y="1968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 Trade Service</a:t>
            </a:r>
            <a:endParaRPr lang="en-US" sz="1100"/>
          </a:p>
        </p:txBody>
      </p:sp>
      <p:sp>
        <p:nvSpPr>
          <p:cNvPr id="14" name="AutoShape 14"/>
          <p:cNvSpPr/>
          <p:nvPr>
            <p:custDataLst>
              <p:tags r:id="rId10"/>
            </p:custDataLst>
          </p:nvPr>
        </p:nvSpPr>
        <p:spPr>
          <a:xfrm>
            <a:off x="4572000" y="2413000"/>
            <a:ext cx="1079500" cy="2794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custDataLst>
              <p:tags r:id="rId11"/>
            </p:custDataLst>
          </p:nvPr>
        </p:nvSpPr>
        <p:spPr>
          <a:xfrm>
            <a:off x="4572000" y="2413000"/>
            <a:ext cx="1079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Port: 8002</a:t>
            </a:r>
            <a:endParaRPr lang="en-US" sz="1100"/>
          </a:p>
        </p:txBody>
      </p:sp>
      <p:cxnSp>
        <p:nvCxnSpPr>
          <p:cNvPr id="16" name="Connector 16"/>
          <p:cNvCxnSpPr/>
          <p:nvPr>
            <p:custDataLst>
              <p:tags r:id="rId12"/>
            </p:custDataLst>
          </p:nvPr>
        </p:nvCxnSpPr>
        <p:spPr>
          <a:xfrm rot="-14323">
            <a:off x="4572013" y="2851150"/>
            <a:ext cx="30480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17" name="AutoShape 17"/>
          <p:cNvSpPr/>
          <p:nvPr>
            <p:custDataLst>
              <p:tags r:id="rId13"/>
            </p:custDataLst>
          </p:nvPr>
        </p:nvSpPr>
        <p:spPr>
          <a:xfrm>
            <a:off x="4572000" y="29845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聚焦本地生活交易闭环，处理外卖下单、购物车管理、团购优惠核销及配送履约全流程。</a:t>
            </a:r>
            <a:endParaRPr lang="en-US" sz="1100"/>
          </a:p>
        </p:txBody>
      </p:sp>
      <p:sp>
        <p:nvSpPr>
          <p:cNvPr id="18" name="AutoShape 18"/>
          <p:cNvSpPr/>
          <p:nvPr/>
        </p:nvSpPr>
        <p:spPr>
          <a:xfrm>
            <a:off x="4572000" y="375285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数据归属：</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trade_db (Food/Order/Coupon)</a:t>
            </a:r>
            <a:endParaRPr lang="en-US" sz="1100"/>
          </a:p>
        </p:txBody>
      </p:sp>
      <p:sp>
        <p:nvSpPr>
          <p:cNvPr id="19" name="AutoShape 19"/>
          <p:cNvSpPr/>
          <p:nvPr/>
        </p:nvSpPr>
        <p:spPr>
          <a:xfrm>
            <a:off x="4572000" y="43180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关键用例：</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UC02(下单), UC03(支付), UC06(配送)</a:t>
            </a:r>
            <a:endParaRPr lang="en-US" sz="1100"/>
          </a:p>
        </p:txBody>
      </p:sp>
      <p:sp>
        <p:nvSpPr>
          <p:cNvPr id="20" name="AutoShape 20"/>
          <p:cNvSpPr/>
          <p:nvPr>
            <p:custDataLst>
              <p:tags r:id="rId14"/>
            </p:custDataLst>
          </p:nvPr>
        </p:nvSpPr>
        <p:spPr>
          <a:xfrm>
            <a:off x="8001000" y="1778000"/>
            <a:ext cx="3429000" cy="3202305"/>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21" name="AutoShape 21"/>
          <p:cNvSpPr/>
          <p:nvPr>
            <p:custDataLst>
              <p:tags r:id="rId15"/>
            </p:custDataLst>
          </p:nvPr>
        </p:nvSpPr>
        <p:spPr>
          <a:xfrm>
            <a:off x="8191500" y="19685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 / Lifestyle Service</a:t>
            </a:r>
            <a:endParaRPr lang="en-US" sz="1100"/>
          </a:p>
        </p:txBody>
      </p:sp>
      <p:sp>
        <p:nvSpPr>
          <p:cNvPr id="22" name="AutoShape 22"/>
          <p:cNvSpPr/>
          <p:nvPr>
            <p:custDataLst>
              <p:tags r:id="rId16"/>
            </p:custDataLst>
          </p:nvPr>
        </p:nvSpPr>
        <p:spPr>
          <a:xfrm>
            <a:off x="8191500" y="2413000"/>
            <a:ext cx="1079500" cy="279400"/>
          </a:xfrm>
          <a:prstGeom prst="roundRect">
            <a:avLst>
              <a:gd name="adj" fmla="val 0"/>
            </a:avLst>
          </a:prstGeom>
          <a:solidFill>
            <a:srgbClr val="22C55E">
              <a:alpha val="1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custDataLst>
              <p:tags r:id="rId17"/>
            </p:custDataLst>
          </p:nvPr>
        </p:nvSpPr>
        <p:spPr>
          <a:xfrm>
            <a:off x="8191500" y="2413000"/>
            <a:ext cx="1079500" cy="2794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2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Port: 8003</a:t>
            </a:r>
            <a:endParaRPr lang="en-US" sz="1100"/>
          </a:p>
        </p:txBody>
      </p:sp>
      <p:cxnSp>
        <p:nvCxnSpPr>
          <p:cNvPr id="24" name="Connector 24"/>
          <p:cNvCxnSpPr/>
          <p:nvPr>
            <p:custDataLst>
              <p:tags r:id="rId18"/>
            </p:custDataLst>
          </p:nvPr>
        </p:nvCxnSpPr>
        <p:spPr>
          <a:xfrm rot="-14323">
            <a:off x="8191513" y="2851150"/>
            <a:ext cx="3048000" cy="12700"/>
          </a:xfrm>
          <a:prstGeom prst="straightConnector1">
            <a:avLst/>
          </a:prstGeom>
          <a:solidFill>
            <a:srgbClr val="DEE0E3">
              <a:alpha val="100000"/>
            </a:srgbClr>
          </a:solidFill>
          <a:ln w="12700" cap="flat" cmpd="sng">
            <a:solidFill>
              <a:srgbClr val="000000">
                <a:alpha val="8000"/>
              </a:srgbClr>
            </a:solidFill>
            <a:prstDash val="solid"/>
            <a:round/>
            <a:headEnd type="none" w="med" len="med"/>
            <a:tailEnd type="none" w="med" len="med"/>
          </a:ln>
        </p:spPr>
      </p:cxnSp>
      <p:sp>
        <p:nvSpPr>
          <p:cNvPr id="25" name="AutoShape 25"/>
          <p:cNvSpPr/>
          <p:nvPr>
            <p:custDataLst>
              <p:tags r:id="rId19"/>
            </p:custDataLst>
          </p:nvPr>
        </p:nvSpPr>
        <p:spPr>
          <a:xfrm>
            <a:off x="8191500" y="2984500"/>
            <a:ext cx="304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打造本地生活体验生态，提供酒店预订、娱乐票务、内容社区互动及用户真实评价服务。</a:t>
            </a:r>
            <a:endParaRPr lang="en-US" sz="1100"/>
          </a:p>
        </p:txBody>
      </p:sp>
      <p:sp>
        <p:nvSpPr>
          <p:cNvPr id="26" name="AutoShape 26"/>
          <p:cNvSpPr/>
          <p:nvPr/>
        </p:nvSpPr>
        <p:spPr>
          <a:xfrm>
            <a:off x="8191500" y="375285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数据归属：</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life_db (Hotel/Play/Blog)</a:t>
            </a:r>
            <a:endParaRPr lang="en-US" sz="1100"/>
          </a:p>
        </p:txBody>
      </p:sp>
      <p:sp>
        <p:nvSpPr>
          <p:cNvPr id="27" name="AutoShape 27"/>
          <p:cNvSpPr/>
          <p:nvPr/>
        </p:nvSpPr>
        <p:spPr>
          <a:xfrm>
            <a:off x="8191500" y="4318000"/>
            <a:ext cx="3048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关键用例：</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UC04(预订), UC05(评价), UC07(社区)</a:t>
            </a:r>
            <a:endParaRPr lang="en-US" sz="1100"/>
          </a:p>
        </p:txBody>
      </p:sp>
      <p:sp>
        <p:nvSpPr>
          <p:cNvPr id="28" name="AutoShape 28"/>
          <p:cNvSpPr/>
          <p:nvPr/>
        </p:nvSpPr>
        <p:spPr>
          <a:xfrm>
            <a:off x="762000" y="5207000"/>
            <a:ext cx="10668000" cy="1079500"/>
          </a:xfrm>
          <a:prstGeom prst="roundRect">
            <a:avLst>
              <a:gd name="adj" fmla="val 0"/>
            </a:avLst>
          </a:prstGeom>
          <a:solidFill>
            <a:srgbClr val="22C55E">
              <a:alpha val="8000"/>
            </a:srgbClr>
          </a:solidFill>
          <a:ln w="25400" cap="flat" cmpd="sng">
            <a:no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1016000" y="5537200"/>
            <a:ext cx="406400" cy="406400"/>
          </a:xfrm>
          <a:prstGeom prst="rect">
            <a:avLst/>
          </a:prstGeom>
        </p:spPr>
      </p:pic>
      <p:sp>
        <p:nvSpPr>
          <p:cNvPr id="30" name="AutoShape 30"/>
          <p:cNvSpPr/>
          <p:nvPr/>
        </p:nvSpPr>
        <p:spPr>
          <a:xfrm>
            <a:off x="1587500" y="5359400"/>
            <a:ext cx="9525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API 网关统一路由 (Nginx)：</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通过统一前缀对外暴露接口，实现请求精准分发：</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/api/users/</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user-service，</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/api/trade/</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trade-service，</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/api/lifestyle/</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lifestyle-service。</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架构图</a:t>
            </a:r>
            <a:endParaRPr lang="en-US" sz="1100"/>
          </a:p>
        </p:txBody>
      </p:sp>
      <p:sp>
        <p:nvSpPr>
          <p:cNvPr id="4" name="AutoShape 4"/>
          <p:cNvSpPr/>
          <p:nvPr/>
        </p:nvSpPr>
        <p:spPr>
          <a:xfrm>
            <a:off x="762000" y="1778000"/>
            <a:ext cx="2032000" cy="762000"/>
          </a:xfrm>
          <a:prstGeom prst="roundRect">
            <a:avLst>
              <a:gd name="adj" fmla="val 0"/>
            </a:avLst>
          </a:prstGeom>
          <a:solidFill>
            <a:srgbClr val="22C55E">
              <a:alpha val="10000"/>
            </a:srgbClr>
          </a:solidFill>
          <a:ln w="12700" cap="flat" cmpd="sng">
            <a:solidFill>
              <a:srgbClr val="22C55E">
                <a:alpha val="5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006600"/>
            <a:ext cx="304800" cy="304800"/>
          </a:xfrm>
          <a:prstGeom prst="rect">
            <a:avLst/>
          </a:prstGeom>
        </p:spPr>
      </p:pic>
      <p:sp>
        <p:nvSpPr>
          <p:cNvPr id="6" name="AutoShape 6"/>
          <p:cNvSpPr/>
          <p:nvPr/>
        </p:nvSpPr>
        <p:spPr>
          <a:xfrm>
            <a:off x="1333500" y="1905000"/>
            <a:ext cx="14605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前端 / 浏览器</a:t>
            </a:r>
            <a:endParaRPr lang="en-US" sz="1100"/>
          </a:p>
        </p:txBody>
      </p:sp>
      <p:cxnSp>
        <p:nvCxnSpPr>
          <p:cNvPr id="7" name="Connector 7"/>
          <p:cNvCxnSpPr/>
          <p:nvPr/>
        </p:nvCxnSpPr>
        <p:spPr>
          <a:xfrm rot="-57290">
            <a:off x="2794053" y="2152650"/>
            <a:ext cx="762000" cy="12700"/>
          </a:xfrm>
          <a:prstGeom prst="line">
            <a:avLst/>
          </a:prstGeom>
          <a:solidFill>
            <a:srgbClr val="DEE0E3">
              <a:alpha val="100000"/>
            </a:srgbClr>
          </a:solidFill>
          <a:ln w="25400" cap="flat" cmpd="sng">
            <a:solidFill>
              <a:srgbClr val="9CA3AF">
                <a:alpha val="100000"/>
              </a:srgbClr>
            </a:solidFill>
            <a:prstDash val="solid"/>
            <a:round/>
            <a:headEnd type="none" w="lg" len="lg"/>
            <a:tailEnd type="arrow" w="sm" len="sm"/>
          </a:ln>
        </p:spPr>
      </p:cxnSp>
      <p:sp>
        <p:nvSpPr>
          <p:cNvPr id="8" name="AutoShape 8"/>
          <p:cNvSpPr/>
          <p:nvPr/>
        </p:nvSpPr>
        <p:spPr>
          <a:xfrm>
            <a:off x="3556000" y="1714500"/>
            <a:ext cx="7874000" cy="889000"/>
          </a:xfrm>
          <a:prstGeom prst="roundRect">
            <a:avLst>
              <a:gd name="adj" fmla="val 0"/>
            </a:avLst>
          </a:prstGeom>
          <a:solidFill>
            <a:srgbClr val="22C55E">
              <a:alpha val="15000"/>
            </a:srgbClr>
          </a:solidFill>
          <a:ln w="12700" cap="flat" cmpd="sng">
            <a:solidFill>
              <a:srgbClr val="22C55E">
                <a:alpha val="6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10000" y="1981200"/>
            <a:ext cx="355600" cy="355600"/>
          </a:xfrm>
          <a:prstGeom prst="rect">
            <a:avLst/>
          </a:prstGeom>
        </p:spPr>
      </p:pic>
      <p:sp>
        <p:nvSpPr>
          <p:cNvPr id="10" name="AutoShape 10"/>
          <p:cNvSpPr/>
          <p:nvPr/>
        </p:nvSpPr>
        <p:spPr>
          <a:xfrm>
            <a:off x="4318000" y="1778000"/>
            <a:ext cx="7112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API 网关 / BFF</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 路由分发 · 身份鉴权 · 数据聚合 · 流量限流</a:t>
            </a:r>
            <a:endParaRPr lang="en-US" sz="1100"/>
          </a:p>
        </p:txBody>
      </p:sp>
      <p:sp>
        <p:nvSpPr>
          <p:cNvPr id="11" name="AutoShape 11"/>
          <p:cNvSpPr/>
          <p:nvPr/>
        </p:nvSpPr>
        <p:spPr>
          <a:xfrm>
            <a:off x="762000" y="3175000"/>
            <a:ext cx="3429000" cy="15240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952500" y="3302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用户服务 (User)</a:t>
            </a:r>
            <a:endParaRPr lang="en-US" sz="1100"/>
          </a:p>
        </p:txBody>
      </p:sp>
      <p:sp>
        <p:nvSpPr>
          <p:cNvPr id="13" name="AutoShape 13"/>
          <p:cNvSpPr/>
          <p:nvPr/>
        </p:nvSpPr>
        <p:spPr>
          <a:xfrm>
            <a:off x="952500" y="3746500"/>
            <a:ext cx="304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核心基础服务，承载用户身份认证与基础信息管理。</a:t>
            </a:r>
            <a:b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核心表：User (用户基础信息库)</a:t>
            </a:r>
            <a:endParaRPr lang="en-US" sz="1100"/>
          </a:p>
        </p:txBody>
      </p:sp>
      <p:sp>
        <p:nvSpPr>
          <p:cNvPr id="14" name="AutoShape 14"/>
          <p:cNvSpPr/>
          <p:nvPr/>
        </p:nvSpPr>
        <p:spPr>
          <a:xfrm>
            <a:off x="4381500" y="3175000"/>
            <a:ext cx="3429000" cy="15240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5" name="AutoShape 15"/>
          <p:cNvSpPr/>
          <p:nvPr/>
        </p:nvSpPr>
        <p:spPr>
          <a:xfrm>
            <a:off x="4572000" y="3302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交易服务 (Trade)</a:t>
            </a:r>
            <a:endParaRPr lang="en-US" sz="1100"/>
          </a:p>
        </p:txBody>
      </p:sp>
      <p:sp>
        <p:nvSpPr>
          <p:cNvPr id="16" name="AutoShape 16"/>
          <p:cNvSpPr/>
          <p:nvPr/>
        </p:nvSpPr>
        <p:spPr>
          <a:xfrm>
            <a:off x="4572000" y="3746500"/>
            <a:ext cx="304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处理餐饮、订单履约与团购优惠业务。</a:t>
            </a:r>
            <a:b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依赖：同步调用用户服务校验身份信息</a:t>
            </a:r>
            <a:endParaRPr lang="en-US" sz="1100"/>
          </a:p>
        </p:txBody>
      </p:sp>
      <p:sp>
        <p:nvSpPr>
          <p:cNvPr id="17" name="AutoShape 17"/>
          <p:cNvSpPr/>
          <p:nvPr/>
        </p:nvSpPr>
        <p:spPr>
          <a:xfrm>
            <a:off x="8001000" y="3175000"/>
            <a:ext cx="3429000" cy="1524000"/>
          </a:xfrm>
          <a:prstGeom prst="roundRect">
            <a:avLst>
              <a:gd name="adj" fmla="val 0"/>
            </a:avLst>
          </a:prstGeom>
          <a:solidFill>
            <a:srgbClr val="FFFFFF">
              <a:alpha val="70000"/>
            </a:srgbClr>
          </a:solidFill>
          <a:ln w="12700" cap="flat" cmpd="sng">
            <a:solidFill>
              <a:srgbClr val="E5E7EB">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8191500" y="3302000"/>
            <a:ext cx="3175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 生活服务 (Lifestyle)</a:t>
            </a:r>
            <a:endParaRPr lang="en-US" sz="1100"/>
          </a:p>
        </p:txBody>
      </p:sp>
      <p:sp>
        <p:nvSpPr>
          <p:cNvPr id="19" name="AutoShape 19"/>
          <p:cNvSpPr/>
          <p:nvPr/>
        </p:nvSpPr>
        <p:spPr>
          <a:xfrm>
            <a:off x="8191500" y="3746500"/>
            <a:ext cx="3048000" cy="825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涵盖酒店预订、景点游玩及内容社区。</a:t>
            </a:r>
            <a:b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依赖：同步调用用户服务获取用户画像</a:t>
            </a:r>
            <a:endParaRPr lang="en-US" sz="1100"/>
          </a:p>
        </p:txBody>
      </p:sp>
      <p:sp>
        <p:nvSpPr>
          <p:cNvPr id="20" name="AutoShape 20"/>
          <p:cNvSpPr/>
          <p:nvPr/>
        </p:nvSpPr>
        <p:spPr>
          <a:xfrm>
            <a:off x="762000" y="5080000"/>
            <a:ext cx="10668000" cy="1079500"/>
          </a:xfrm>
          <a:prstGeom prst="roundRect">
            <a:avLst>
              <a:gd name="adj" fmla="val 0"/>
            </a:avLst>
          </a:prstGeom>
          <a:solidFill>
            <a:srgbClr val="1F2937">
              <a:alpha val="5000"/>
            </a:srgbClr>
          </a:solidFill>
          <a:ln w="12700" cap="flat" cmpd="sng">
            <a:solidFill>
              <a:srgbClr val="1F2937">
                <a:alpha val="1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5410200"/>
            <a:ext cx="406400" cy="406400"/>
          </a:xfrm>
          <a:prstGeom prst="rect">
            <a:avLst/>
          </a:prstGeom>
        </p:spPr>
      </p:pic>
      <p:sp>
        <p:nvSpPr>
          <p:cNvPr id="22" name="AutoShape 22"/>
          <p:cNvSpPr/>
          <p:nvPr/>
        </p:nvSpPr>
        <p:spPr>
          <a:xfrm>
            <a:off x="1651000" y="5232400"/>
            <a:ext cx="952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5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数据库层：独立 Schema 设计原则</a:t>
            </a:r>
            <a:endParaRPr lang="en-US" sz="1100"/>
          </a:p>
          <a:p>
            <a:pPr marL="0" indent="0" algn="l">
              <a:lnSpc>
                <a:spcPct val="100000"/>
              </a:lnSpc>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采用同一物理服务器部署，逻辑上划分为 user_db、trade_db、life_db 三个独立数据库。严格执行“禁止跨 Schema 联表查询”规则，保障服务解耦与数据安全隔离，提升系统扩展性。</a:t>
            </a:r>
            <a:endPar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高可用性设计：调用失败处理</a:t>
            </a:r>
            <a:endParaRPr lang="en-US" sz="1100"/>
          </a:p>
        </p:txBody>
      </p:sp>
      <p:sp>
        <p:nvSpPr>
          <p:cNvPr id="4" name="AutoShape 4"/>
          <p:cNvSpPr/>
          <p:nvPr/>
        </p:nvSpPr>
        <p:spPr>
          <a:xfrm>
            <a:off x="762000" y="1397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失败处理按「</a:t>
            </a: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调用来源</a:t>
            </a: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」分级，确保系统韧性，从高频核心到聚合场景，层层设防保障服务可用性。</a:t>
            </a:r>
            <a:endParaRPr lang="en-US" sz="1100"/>
          </a:p>
        </p:txBody>
      </p:sp>
      <p:sp>
        <p:nvSpPr>
          <p:cNvPr id="5" name="AutoShape 5"/>
          <p:cNvSpPr/>
          <p:nvPr/>
        </p:nvSpPr>
        <p:spPr>
          <a:xfrm>
            <a:off x="762000" y="2159000"/>
            <a:ext cx="5270500" cy="1460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52500" y="2349500"/>
            <a:ext cx="355600" cy="355600"/>
          </a:xfrm>
          <a:prstGeom prst="rect">
            <a:avLst/>
          </a:prstGeom>
        </p:spPr>
      </p:pic>
      <p:sp>
        <p:nvSpPr>
          <p:cNvPr id="7" name="AutoShape 7"/>
          <p:cNvSpPr/>
          <p:nvPr/>
        </p:nvSpPr>
        <p:spPr>
          <a:xfrm>
            <a:off x="1397000" y="2349500"/>
            <a:ext cx="438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01 核心鉴权：角色判定 (JWT 本地解析)</a:t>
            </a:r>
            <a:endParaRPr lang="en-US" sz="1100"/>
          </a:p>
        </p:txBody>
      </p:sp>
      <p:sp>
        <p:nvSpPr>
          <p:cNvPr id="8" name="AutoShape 8"/>
          <p:cNvSpPr/>
          <p:nvPr/>
        </p:nvSpPr>
        <p:spPr>
          <a:xfrm>
            <a:off x="952500" y="27940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Token 携带用户身份信息，服务本地完成校验，彻底消除对用户服务的依赖。即便用户服务宕机，已签发的合法 Token 依然有效，源头阻断故障扩散。</a:t>
            </a:r>
            <a:endParaRPr lang="en-US" sz="1100"/>
          </a:p>
        </p:txBody>
      </p:sp>
      <p:sp>
        <p:nvSpPr>
          <p:cNvPr id="9" name="AutoShape 9"/>
          <p:cNvSpPr/>
          <p:nvPr/>
        </p:nvSpPr>
        <p:spPr>
          <a:xfrm>
            <a:off x="6159500" y="2159000"/>
            <a:ext cx="5270500" cy="1460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50000" y="2349500"/>
            <a:ext cx="355600" cy="355600"/>
          </a:xfrm>
          <a:prstGeom prst="rect">
            <a:avLst/>
          </a:prstGeom>
        </p:spPr>
      </p:pic>
      <p:sp>
        <p:nvSpPr>
          <p:cNvPr id="11" name="AutoShape 11"/>
          <p:cNvSpPr/>
          <p:nvPr/>
        </p:nvSpPr>
        <p:spPr>
          <a:xfrm>
            <a:off x="6794500" y="2349500"/>
            <a:ext cx="438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02 非核心场景：列表用户名展示</a:t>
            </a:r>
            <a:endParaRPr lang="en-US" sz="1100"/>
          </a:p>
        </p:txBody>
      </p:sp>
      <p:sp>
        <p:nvSpPr>
          <p:cNvPr id="12" name="AutoShape 12"/>
          <p:cNvSpPr/>
          <p:nvPr/>
        </p:nvSpPr>
        <p:spPr>
          <a:xfrm>
            <a:off x="6350000" y="27940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调用失败时自动替换为「匿名用户」占位符，优先保障页面正常渲染，绝不阻断主流程，确保用户体验的流畅性与业务连续性。</a:t>
            </a:r>
            <a:endParaRPr lang="en-US" sz="1100"/>
          </a:p>
        </p:txBody>
      </p:sp>
      <p:sp>
        <p:nvSpPr>
          <p:cNvPr id="13" name="AutoShape 13"/>
          <p:cNvSpPr/>
          <p:nvPr/>
        </p:nvSpPr>
        <p:spPr>
          <a:xfrm>
            <a:off x="762000" y="3810000"/>
            <a:ext cx="5270500" cy="1460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52500" y="4000500"/>
            <a:ext cx="355600" cy="355600"/>
          </a:xfrm>
          <a:prstGeom prst="rect">
            <a:avLst/>
          </a:prstGeom>
        </p:spPr>
      </p:pic>
      <p:sp>
        <p:nvSpPr>
          <p:cNvPr id="15" name="AutoShape 15"/>
          <p:cNvSpPr/>
          <p:nvPr/>
        </p:nvSpPr>
        <p:spPr>
          <a:xfrm>
            <a:off x="1397000" y="4000500"/>
            <a:ext cx="438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复杂聚合：后台与个人中心</a:t>
            </a:r>
            <a:endParaRPr lang="en-US" sz="1100"/>
          </a:p>
        </p:txBody>
      </p:sp>
      <p:sp>
        <p:nvSpPr>
          <p:cNvPr id="16" name="AutoShape 16"/>
          <p:cNvSpPr/>
          <p:nvPr/>
        </p:nvSpPr>
        <p:spPr>
          <a:xfrm>
            <a:off x="952500" y="44450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BFF 层并发调用多个微服务，实现局部容错。单个服务超时或失败仅影响该模块，返回空数据与友好提示，避免整体接口 500 错误。</a:t>
            </a:r>
            <a:endParaRPr lang="en-US" sz="1100"/>
          </a:p>
        </p:txBody>
      </p:sp>
      <p:sp>
        <p:nvSpPr>
          <p:cNvPr id="17" name="AutoShape 17"/>
          <p:cNvSpPr/>
          <p:nvPr/>
        </p:nvSpPr>
        <p:spPr>
          <a:xfrm>
            <a:off x="6159500" y="3810000"/>
            <a:ext cx="5270500" cy="1460500"/>
          </a:xfrm>
          <a:prstGeom prst="roundRect">
            <a:avLst>
              <a:gd name="adj" fmla="val 0"/>
            </a:avLst>
          </a:prstGeom>
          <a:solidFill>
            <a:srgbClr val="FFFFFF">
              <a:alpha val="65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350000" y="4000500"/>
            <a:ext cx="355600" cy="355600"/>
          </a:xfrm>
          <a:prstGeom prst="rect">
            <a:avLst/>
          </a:prstGeom>
        </p:spPr>
      </p:pic>
      <p:sp>
        <p:nvSpPr>
          <p:cNvPr id="19" name="AutoShape 19"/>
          <p:cNvSpPr/>
          <p:nvPr/>
        </p:nvSpPr>
        <p:spPr>
          <a:xfrm>
            <a:off x="6794500" y="4000500"/>
            <a:ext cx="4381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04 智能服务：AI 咨询聚合目录</a:t>
            </a:r>
            <a:endParaRPr lang="en-US" sz="1100"/>
          </a:p>
        </p:txBody>
      </p:sp>
      <p:sp>
        <p:nvSpPr>
          <p:cNvPr id="20" name="AutoShape 20"/>
          <p:cNvSpPr/>
          <p:nvPr/>
        </p:nvSpPr>
        <p:spPr>
          <a:xfrm>
            <a:off x="6350000" y="4445000"/>
            <a:ext cx="4889500" cy="762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采用「缓存优先」策略，未命中再调用后端。若目录服务异常，直接使用缓存兜底；极端情况则返回统一的服务不可用提示，保护核心链路。</a:t>
            </a:r>
            <a:endParaRPr lang="en-US" sz="1100"/>
          </a:p>
        </p:txBody>
      </p:sp>
      <p:sp>
        <p:nvSpPr>
          <p:cNvPr id="21" name="AutoShape 21"/>
          <p:cNvSpPr/>
          <p:nvPr/>
        </p:nvSpPr>
        <p:spPr>
          <a:xfrm>
            <a:off x="762000" y="5397500"/>
            <a:ext cx="10668000" cy="10795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22" name="Picture 22"/>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2500" y="5651500"/>
            <a:ext cx="406400" cy="406400"/>
          </a:xfrm>
          <a:prstGeom prst="rect">
            <a:avLst/>
          </a:prstGeom>
        </p:spPr>
      </p:pic>
      <p:sp>
        <p:nvSpPr>
          <p:cNvPr id="23" name="AutoShape 23"/>
          <p:cNvSpPr/>
          <p:nvPr/>
        </p:nvSpPr>
        <p:spPr>
          <a:xfrm>
            <a:off x="1524000" y="5524500"/>
            <a:ext cx="9652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5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网关层终极兜底（Nginx 拦截）：</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 `proxy_connect_timeout 2s` / `proxy_read_timeout 3s`，当后端服务超时或不可用时，统一返回标准 JSON 格式（HTTP 503），避免上游请求堆积，有效保护服务集群的稳定性与可用性。</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05 关键数据结论：测试结果</a:t>
            </a:r>
            <a:endParaRPr lang="en-US" sz="1100"/>
          </a:p>
        </p:txBody>
      </p:sp>
      <p:sp>
        <p:nvSpPr>
          <p:cNvPr id="4" name="AutoShape 4"/>
          <p:cNvSpPr/>
          <p:nvPr/>
        </p:nvSpPr>
        <p:spPr>
          <a:xfrm>
            <a:off x="762000" y="1524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我们构建了覆盖单元、端到端及微服务的三层自动化测试体系，从代码底层到业务顶层全链路验证，确保系统上线后的稳定性与业务逻辑的绝对正确。</a:t>
            </a:r>
            <a:endParaRPr lang="en-US" sz="1100"/>
          </a:p>
        </p:txBody>
      </p:sp>
      <p:sp>
        <p:nvSpPr>
          <p:cNvPr id="5" name="AutoShape 5"/>
          <p:cNvSpPr/>
          <p:nvPr/>
        </p:nvSpPr>
        <p:spPr>
          <a:xfrm>
            <a:off x="762000" y="2667000"/>
            <a:ext cx="3378200" cy="3048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6" name="AutoShape 6"/>
          <p:cNvSpPr/>
          <p:nvPr/>
        </p:nvSpPr>
        <p:spPr>
          <a:xfrm>
            <a:off x="952500" y="2921000"/>
            <a:ext cx="2997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单元与集成测试</a:t>
            </a:r>
            <a:endParaRPr lang="en-US" sz="1100"/>
          </a:p>
        </p:txBody>
      </p:sp>
      <p:cxnSp>
        <p:nvCxnSpPr>
          <p:cNvPr id="7" name="Connector 7"/>
          <p:cNvCxnSpPr/>
          <p:nvPr/>
        </p:nvCxnSpPr>
        <p:spPr>
          <a:xfrm rot="-14566">
            <a:off x="952513" y="3422650"/>
            <a:ext cx="2997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8" name="AutoShape 8"/>
          <p:cNvSpPr/>
          <p:nvPr/>
        </p:nvSpPr>
        <p:spPr>
          <a:xfrm>
            <a:off x="952500" y="3619500"/>
            <a:ext cx="2997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114项测试 · 99%通过率</a:t>
            </a:r>
            <a:endParaRPr lang="en-US" sz="1100"/>
          </a:p>
        </p:txBody>
      </p:sp>
      <p:sp>
        <p:nvSpPr>
          <p:cNvPr id="9" name="AutoShape 9"/>
          <p:cNvSpPr/>
          <p:nvPr/>
        </p:nvSpPr>
        <p:spPr>
          <a:xfrm>
            <a:off x="952500" y="4254500"/>
            <a:ext cx="2997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共执行114项测试，113项通过，仅1项因环境配置跳过；业务用例回归9/9全覆盖，筑牢代码底层质量根基。</a:t>
            </a:r>
            <a:endParaRPr lang="en-US" sz="1100"/>
          </a:p>
        </p:txBody>
      </p:sp>
      <p:sp>
        <p:nvSpPr>
          <p:cNvPr id="10" name="AutoShape 10"/>
          <p:cNvSpPr/>
          <p:nvPr/>
        </p:nvSpPr>
        <p:spPr>
          <a:xfrm>
            <a:off x="952500" y="5334000"/>
            <a:ext cx="2997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质量验收通过</a:t>
            </a:r>
            <a:endParaRPr lang="en-US" sz="1100"/>
          </a:p>
        </p:txBody>
      </p:sp>
      <p:sp>
        <p:nvSpPr>
          <p:cNvPr id="11" name="AutoShape 11"/>
          <p:cNvSpPr/>
          <p:nvPr/>
        </p:nvSpPr>
        <p:spPr>
          <a:xfrm>
            <a:off x="4406900" y="2667000"/>
            <a:ext cx="3378200" cy="3048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12" name="AutoShape 12"/>
          <p:cNvSpPr/>
          <p:nvPr/>
        </p:nvSpPr>
        <p:spPr>
          <a:xfrm>
            <a:off x="4597400" y="2921000"/>
            <a:ext cx="2997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端到端(E2E)验证</a:t>
            </a:r>
            <a:endParaRPr lang="en-US" sz="1100"/>
          </a:p>
        </p:txBody>
      </p:sp>
      <p:cxnSp>
        <p:nvCxnSpPr>
          <p:cNvPr id="13" name="Connector 13"/>
          <p:cNvCxnSpPr/>
          <p:nvPr/>
        </p:nvCxnSpPr>
        <p:spPr>
          <a:xfrm rot="-14566">
            <a:off x="4597413" y="3422650"/>
            <a:ext cx="2997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14" name="AutoShape 14"/>
          <p:cNvSpPr/>
          <p:nvPr/>
        </p:nvSpPr>
        <p:spPr>
          <a:xfrm>
            <a:off x="4597400" y="3619500"/>
            <a:ext cx="2997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9大核心场景 · 100%通过</a:t>
            </a:r>
            <a:endParaRPr lang="en-US" sz="1100"/>
          </a:p>
        </p:txBody>
      </p:sp>
      <p:sp>
        <p:nvSpPr>
          <p:cNvPr id="15" name="AutoShape 15"/>
          <p:cNvSpPr/>
          <p:nvPr/>
        </p:nvSpPr>
        <p:spPr>
          <a:xfrm>
            <a:off x="4597400" y="4254500"/>
            <a:ext cx="2997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覆盖UC01至UC09全业务流程，重点验证支付、订单等核心链路；多维度证据留存，确保业务闭环无死角。</a:t>
            </a:r>
            <a:endParaRPr lang="en-US" sz="1100"/>
          </a:p>
        </p:txBody>
      </p:sp>
      <p:sp>
        <p:nvSpPr>
          <p:cNvPr id="16" name="AutoShape 16"/>
          <p:cNvSpPr/>
          <p:nvPr/>
        </p:nvSpPr>
        <p:spPr>
          <a:xfrm>
            <a:off x="4597400" y="5334000"/>
            <a:ext cx="2997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核心流程通畅</a:t>
            </a:r>
            <a:endParaRPr lang="en-US" sz="1100"/>
          </a:p>
        </p:txBody>
      </p:sp>
      <p:sp>
        <p:nvSpPr>
          <p:cNvPr id="17" name="AutoShape 17"/>
          <p:cNvSpPr/>
          <p:nvPr/>
        </p:nvSpPr>
        <p:spPr>
          <a:xfrm>
            <a:off x="8051800" y="2667000"/>
            <a:ext cx="3378200" cy="3048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8242300" y="2921000"/>
            <a:ext cx="2997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 微服务接口保障</a:t>
            </a:r>
            <a:endParaRPr lang="en-US" sz="1100"/>
          </a:p>
        </p:txBody>
      </p:sp>
      <p:cxnSp>
        <p:nvCxnSpPr>
          <p:cNvPr id="19" name="Connector 19"/>
          <p:cNvCxnSpPr/>
          <p:nvPr/>
        </p:nvCxnSpPr>
        <p:spPr>
          <a:xfrm rot="-14566">
            <a:off x="8242313" y="3422650"/>
            <a:ext cx="2997200" cy="12700"/>
          </a:xfrm>
          <a:prstGeom prst="straightConnector1">
            <a:avLst/>
          </a:prstGeom>
          <a:solidFill>
            <a:srgbClr val="DEE0E3">
              <a:alpha val="100000"/>
            </a:srgbClr>
          </a:solidFill>
          <a:ln w="12700" cap="flat" cmpd="sng">
            <a:solidFill>
              <a:srgbClr val="22C55E">
                <a:alpha val="20000"/>
              </a:srgbClr>
            </a:solidFill>
            <a:prstDash val="solid"/>
            <a:round/>
            <a:headEnd type="none" w="med" len="med"/>
            <a:tailEnd type="none" w="med" len="med"/>
          </a:ln>
        </p:spPr>
      </p:cxnSp>
      <p:sp>
        <p:nvSpPr>
          <p:cNvPr id="20" name="AutoShape 20"/>
          <p:cNvSpPr/>
          <p:nvPr/>
        </p:nvSpPr>
        <p:spPr>
          <a:xfrm>
            <a:off x="8242300" y="3619500"/>
            <a:ext cx="2997200" cy="508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24项专项 · 覆盖54个API</a:t>
            </a:r>
            <a:endParaRPr lang="en-US" sz="1100"/>
          </a:p>
        </p:txBody>
      </p:sp>
      <p:sp>
        <p:nvSpPr>
          <p:cNvPr id="21" name="AutoShape 21"/>
          <p:cNvSpPr/>
          <p:nvPr/>
        </p:nvSpPr>
        <p:spPr>
          <a:xfrm>
            <a:off x="8242300" y="4254500"/>
            <a:ext cx="29972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针对用户、交易、生活服务三大核心模块，全面验证接口可用性与数据一致性，保障微服务间交互稳定可靠。</a:t>
            </a:r>
            <a:endParaRPr lang="en-US" sz="1100"/>
          </a:p>
        </p:txBody>
      </p:sp>
      <p:sp>
        <p:nvSpPr>
          <p:cNvPr id="22" name="AutoShape 22"/>
          <p:cNvSpPr/>
          <p:nvPr/>
        </p:nvSpPr>
        <p:spPr>
          <a:xfrm>
            <a:off x="8242300" y="5334000"/>
            <a:ext cx="2997200" cy="3048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接口调用正常</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CI/CD 流水线</a:t>
            </a:r>
            <a:endParaRPr lang="en-US" sz="1100"/>
          </a:p>
        </p:txBody>
      </p:sp>
      <p:sp>
        <p:nvSpPr>
          <p:cNvPr id="4" name="AutoShape 4"/>
          <p:cNvSpPr/>
          <p:nvPr/>
        </p:nvSpPr>
        <p:spPr>
          <a:xfrm>
            <a:off x="762000" y="1778000"/>
            <a:ext cx="2082800" cy="2667000"/>
          </a:xfrm>
          <a:prstGeom prst="roundRect">
            <a:avLst>
              <a:gd name="adj" fmla="val 0"/>
            </a:avLst>
          </a:prstGeom>
          <a:solidFill>
            <a:srgbClr val="FFFFFF">
              <a:alpha val="7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889000" y="1968500"/>
            <a:ext cx="18288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6" name="AutoShape 6"/>
          <p:cNvSpPr/>
          <p:nvPr/>
        </p:nvSpPr>
        <p:spPr>
          <a:xfrm>
            <a:off x="889000" y="2476500"/>
            <a:ext cx="18288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Quality</a:t>
            </a:r>
            <a:endParaRPr lang="en-US" sz="1100"/>
          </a:p>
        </p:txBody>
      </p:sp>
      <p:sp>
        <p:nvSpPr>
          <p:cNvPr id="7" name="AutoShape 7"/>
          <p:cNvSpPr/>
          <p:nvPr/>
        </p:nvSpPr>
        <p:spPr>
          <a:xfrm>
            <a:off x="889000" y="2984500"/>
            <a:ext cx="1828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执行代码格式化检查，通过 `black --check` 确保代码风格统一规范，作为流水线的第一道防线。</a:t>
            </a:r>
            <a:endParaRPr lang="en-US" sz="1100"/>
          </a:p>
        </p:txBody>
      </p:sp>
      <p:sp>
        <p:nvSpPr>
          <p:cNvPr id="8" name="AutoShape 8"/>
          <p:cNvSpPr/>
          <p:nvPr/>
        </p:nvSpPr>
        <p:spPr>
          <a:xfrm>
            <a:off x="2921000" y="1778000"/>
            <a:ext cx="2082800" cy="2667000"/>
          </a:xfrm>
          <a:prstGeom prst="roundRect">
            <a:avLst>
              <a:gd name="adj" fmla="val 0"/>
            </a:avLst>
          </a:prstGeom>
          <a:solidFill>
            <a:srgbClr val="FFFFFF">
              <a:alpha val="7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3048000" y="1968500"/>
            <a:ext cx="18288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0" name="AutoShape 10"/>
          <p:cNvSpPr/>
          <p:nvPr/>
        </p:nvSpPr>
        <p:spPr>
          <a:xfrm>
            <a:off x="3048000" y="2476500"/>
            <a:ext cx="18288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Test</a:t>
            </a:r>
            <a:endParaRPr lang="en-US" sz="1100"/>
          </a:p>
        </p:txBody>
      </p:sp>
      <p:sp>
        <p:nvSpPr>
          <p:cNvPr id="11" name="AutoShape 11"/>
          <p:cNvSpPr/>
          <p:nvPr/>
        </p:nvSpPr>
        <p:spPr>
          <a:xfrm>
            <a:off x="3048000" y="2984500"/>
            <a:ext cx="1828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包含BFF三系统矩阵测试，以及三个核心微服务的隔离API测试，全面覆盖核心业务逻辑。</a:t>
            </a:r>
            <a:endParaRPr lang="en-US" sz="1100"/>
          </a:p>
        </p:txBody>
      </p:sp>
      <p:sp>
        <p:nvSpPr>
          <p:cNvPr id="12" name="AutoShape 12"/>
          <p:cNvSpPr/>
          <p:nvPr/>
        </p:nvSpPr>
        <p:spPr>
          <a:xfrm>
            <a:off x="5080000" y="1778000"/>
            <a:ext cx="2082800" cy="2667000"/>
          </a:xfrm>
          <a:prstGeom prst="roundRect">
            <a:avLst>
              <a:gd name="adj" fmla="val 0"/>
            </a:avLst>
          </a:prstGeom>
          <a:solidFill>
            <a:srgbClr val="FFFFFF">
              <a:alpha val="7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5207000" y="1968500"/>
            <a:ext cx="18288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4" name="AutoShape 14"/>
          <p:cNvSpPr/>
          <p:nvPr/>
        </p:nvSpPr>
        <p:spPr>
          <a:xfrm>
            <a:off x="5207000" y="2476500"/>
            <a:ext cx="18288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Build</a:t>
            </a:r>
            <a:endParaRPr lang="en-US" sz="1100"/>
          </a:p>
        </p:txBody>
      </p:sp>
      <p:sp>
        <p:nvSpPr>
          <p:cNvPr id="15" name="AutoShape 15"/>
          <p:cNvSpPr/>
          <p:nvPr/>
        </p:nvSpPr>
        <p:spPr>
          <a:xfrm>
            <a:off x="5207000" y="2984500"/>
            <a:ext cx="1828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自动化构建 bff、user、trade、lifestyle 共4个镜像，并推送到 GHCR 镜像仓库备用。</a:t>
            </a:r>
            <a:endParaRPr lang="en-US" sz="1100"/>
          </a:p>
        </p:txBody>
      </p:sp>
      <p:sp>
        <p:nvSpPr>
          <p:cNvPr id="16" name="AutoShape 16"/>
          <p:cNvSpPr/>
          <p:nvPr/>
        </p:nvSpPr>
        <p:spPr>
          <a:xfrm>
            <a:off x="7239000" y="1778000"/>
            <a:ext cx="2082800" cy="2667000"/>
          </a:xfrm>
          <a:prstGeom prst="roundRect">
            <a:avLst>
              <a:gd name="adj" fmla="val 0"/>
            </a:avLst>
          </a:prstGeom>
          <a:solidFill>
            <a:srgbClr val="FFFFFF">
              <a:alpha val="7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7366000" y="1968500"/>
            <a:ext cx="18288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8" name="AutoShape 18"/>
          <p:cNvSpPr/>
          <p:nvPr/>
        </p:nvSpPr>
        <p:spPr>
          <a:xfrm>
            <a:off x="7366000" y="2476500"/>
            <a:ext cx="18288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Deploy</a:t>
            </a:r>
            <a:endParaRPr lang="en-US" sz="1100"/>
          </a:p>
        </p:txBody>
      </p:sp>
      <p:sp>
        <p:nvSpPr>
          <p:cNvPr id="19" name="AutoShape 19"/>
          <p:cNvSpPr/>
          <p:nvPr/>
        </p:nvSpPr>
        <p:spPr>
          <a:xfrm>
            <a:off x="7366000" y="2984500"/>
            <a:ext cx="1828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 Kind 集群中自动部署所有微服务组件，完成容器编排与服务的快速启动。</a:t>
            </a:r>
            <a:endParaRPr lang="en-US" sz="1100"/>
          </a:p>
        </p:txBody>
      </p:sp>
      <p:sp>
        <p:nvSpPr>
          <p:cNvPr id="20" name="AutoShape 20"/>
          <p:cNvSpPr/>
          <p:nvPr/>
        </p:nvSpPr>
        <p:spPr>
          <a:xfrm>
            <a:off x="9398000" y="1778000"/>
            <a:ext cx="2082800" cy="2667000"/>
          </a:xfrm>
          <a:prstGeom prst="roundRect">
            <a:avLst>
              <a:gd name="adj" fmla="val 0"/>
            </a:avLst>
          </a:prstGeom>
          <a:solidFill>
            <a:srgbClr val="FFFFFF">
              <a:alpha val="75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9525000" y="1968500"/>
            <a:ext cx="1828800" cy="4572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05</a:t>
            </a:r>
            <a:endParaRPr lang="en-US" sz="1100"/>
          </a:p>
        </p:txBody>
      </p:sp>
      <p:sp>
        <p:nvSpPr>
          <p:cNvPr id="22" name="AutoShape 22"/>
          <p:cNvSpPr/>
          <p:nvPr/>
        </p:nvSpPr>
        <p:spPr>
          <a:xfrm>
            <a:off x="9525000" y="2476500"/>
            <a:ext cx="18288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Verify</a:t>
            </a:r>
            <a:endParaRPr lang="en-US" sz="1100"/>
          </a:p>
        </p:txBody>
      </p:sp>
      <p:sp>
        <p:nvSpPr>
          <p:cNvPr id="23" name="AutoShape 23"/>
          <p:cNvSpPr/>
          <p:nvPr/>
        </p:nvSpPr>
        <p:spPr>
          <a:xfrm>
            <a:off x="9525000" y="2984500"/>
            <a:ext cx="1828800" cy="1143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执行多维探针校验：4个存活探针、4个就绪探针及4个版本校验，确保版本与提交 SHA 一致。</a:t>
            </a:r>
            <a:endParaRPr lang="en-US" sz="1100"/>
          </a:p>
        </p:txBody>
      </p:sp>
      <p:sp>
        <p:nvSpPr>
          <p:cNvPr id="24" name="AutoShape 24"/>
          <p:cNvSpPr/>
          <p:nvPr/>
        </p:nvSpPr>
        <p:spPr>
          <a:xfrm>
            <a:off x="762000" y="5080000"/>
            <a:ext cx="10718800" cy="1270000"/>
          </a:xfrm>
          <a:prstGeom prst="roundRect">
            <a:avLst>
              <a:gd name="adj" fmla="val 0"/>
            </a:avLst>
          </a:prstGeom>
          <a:solidFill>
            <a:srgbClr val="22C55E">
              <a:alpha val="8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5334000"/>
            <a:ext cx="406400" cy="406400"/>
          </a:xfrm>
          <a:prstGeom prst="rect">
            <a:avLst/>
          </a:prstGeom>
        </p:spPr>
      </p:pic>
      <p:sp>
        <p:nvSpPr>
          <p:cNvPr id="26" name="AutoShape 26"/>
          <p:cNvSpPr/>
          <p:nvPr/>
        </p:nvSpPr>
        <p:spPr>
          <a:xfrm>
            <a:off x="1587500" y="5270500"/>
            <a:ext cx="9525000" cy="889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严格的门禁机制</a:t>
            </a:r>
            <a:endParaRPr lang="en-US" sz="1100"/>
          </a:p>
          <a:p>
            <a:pPr marL="0" indent="0" algn="l">
              <a:lnSpc>
                <a:spcPct val="117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流水线设置强依赖门禁：任一阶段执行失败（返回非0退出码），后续步骤将立即终止。这一机制能从源头阻断问题代码的交付，有效保障了系统的稳定性与交付质量。</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自动扩缩容 (HPA)</a:t>
            </a:r>
            <a:endParaRPr lang="en-US" sz="1100"/>
          </a:p>
        </p:txBody>
      </p:sp>
      <p:sp>
        <p:nvSpPr>
          <p:cNvPr id="4" name="AutoShape 4"/>
          <p:cNvSpPr/>
          <p:nvPr/>
        </p:nvSpPr>
        <p:spPr>
          <a:xfrm>
            <a:off x="762000" y="2032000"/>
            <a:ext cx="3378200" cy="2540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889000" y="2222500"/>
            <a:ext cx="3124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01 初始待机状态</a:t>
            </a:r>
            <a:endParaRPr lang="en-US" sz="1100"/>
          </a:p>
        </p:txBody>
      </p:sp>
      <p:sp>
        <p:nvSpPr>
          <p:cNvPr id="6" name="AutoShape 6"/>
          <p:cNvSpPr/>
          <p:nvPr/>
        </p:nvSpPr>
        <p:spPr>
          <a:xfrm>
            <a:off x="889000" y="2730500"/>
            <a:ext cx="3124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配置：</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Deployment 副本数 = 1</a:t>
            </a:r>
            <a:endParaRPr lang="en-US" sz="1100"/>
          </a:p>
          <a:p>
            <a:pPr marL="0" indent="0" algn="l">
              <a:lnSpc>
                <a:spcPct val="117000"/>
              </a:lnSpc>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负载：</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CPU使用率 2% / 60%</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系统处于低负载运行状态，资源消耗极低，为后续压力测试提供稳定的基准环境。</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4406900" y="2032000"/>
            <a:ext cx="3378200" cy="2540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4533900" y="2222500"/>
            <a:ext cx="3124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02 加压扩容响应</a:t>
            </a:r>
            <a:endParaRPr lang="en-US" sz="1100"/>
          </a:p>
        </p:txBody>
      </p:sp>
      <p:sp>
        <p:nvSpPr>
          <p:cNvPr id="9" name="AutoShape 9"/>
          <p:cNvSpPr/>
          <p:nvPr/>
        </p:nvSpPr>
        <p:spPr>
          <a:xfrm>
            <a:off x="4533900" y="2730500"/>
            <a:ext cx="3124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120秒高并发 (并发100)</a:t>
            </a:r>
            <a:endParaRPr lang="en-US" sz="1100"/>
          </a:p>
          <a:p>
            <a:pPr marL="0" indent="0" algn="l">
              <a:lnSpc>
                <a:spcPct val="117000"/>
              </a:lnSpc>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表现：</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CPU飙升至855%，副本 1→3</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HPA机制快速触发扩容，Pod数量在短时间内完成倍增，有效分摊系统压力，保障服务稳定。</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8051800" y="2032000"/>
            <a:ext cx="3378200" cy="2540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8178800" y="2222500"/>
            <a:ext cx="31242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03 冷却自动缩容</a:t>
            </a:r>
            <a:endParaRPr lang="en-US" sz="1100"/>
          </a:p>
        </p:txBody>
      </p:sp>
      <p:sp>
        <p:nvSpPr>
          <p:cNvPr id="12" name="AutoShape 12"/>
          <p:cNvSpPr/>
          <p:nvPr/>
        </p:nvSpPr>
        <p:spPr>
          <a:xfrm>
            <a:off x="8178800" y="2730500"/>
            <a:ext cx="3124200" cy="1651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场景：</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流量消退，冷却180秒</a:t>
            </a:r>
            <a:endParaRPr lang="en-US" sz="1100"/>
          </a:p>
          <a:p>
            <a:pPr marL="0" indent="0" algn="l">
              <a:lnSpc>
                <a:spcPct val="117000"/>
              </a:lnSpc>
            </a:pP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表现：</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CPU回落至2%，副本 3→1</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负载降低后，系统自动回收闲置资源，避免资源浪费，高效回归初始低负载状态。</a:t>
            </a:r>
            <a:endPar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762000" y="4826000"/>
            <a:ext cx="10668000" cy="1397000"/>
          </a:xfrm>
          <a:prstGeom prst="roundRect">
            <a:avLst>
              <a:gd name="adj" fmla="val 0"/>
            </a:avLst>
          </a:prstGeom>
          <a:solidFill>
            <a:srgbClr val="22C55E">
              <a:alpha val="10000"/>
            </a:srgbClr>
          </a:solidFill>
          <a:ln w="12700" cap="flat" cmpd="sng">
            <a:solidFill>
              <a:srgbClr val="22C55E">
                <a:alpha val="5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5080000"/>
            <a:ext cx="406400" cy="406400"/>
          </a:xfrm>
          <a:prstGeom prst="rect">
            <a:avLst/>
          </a:prstGeom>
        </p:spPr>
      </p:pic>
      <p:sp>
        <p:nvSpPr>
          <p:cNvPr id="15" name="AutoShape 15"/>
          <p:cNvSpPr/>
          <p:nvPr/>
        </p:nvSpPr>
        <p:spPr>
          <a:xfrm>
            <a:off x="1524000" y="5080000"/>
            <a:ext cx="9652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测试结论：验证通过 (PASS)</a:t>
            </a:r>
            <a:endParaRPr lang="en-US" sz="1100"/>
          </a:p>
        </p:txBody>
      </p:sp>
      <p:sp>
        <p:nvSpPr>
          <p:cNvPr id="16" name="AutoShape 16"/>
          <p:cNvSpPr/>
          <p:nvPr/>
        </p:nvSpPr>
        <p:spPr>
          <a:xfrm>
            <a:off x="1524000" y="5524500"/>
            <a:ext cx="9652000" cy="5715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系统成功验证了HPA的自动扩缩容能力，能够根据CPU负载动态调整Pod数量，有效应对流量洪峰并优化资源利用率，实现了服务稳定性与资源成本的平衡。</a:t>
            </a:r>
            <a:endParaRPr lang="en-US" sz="11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故障注入</a:t>
            </a:r>
            <a:endParaRPr lang="en-US" sz="1100"/>
          </a:p>
        </p:txBody>
      </p:sp>
      <p:sp>
        <p:nvSpPr>
          <p:cNvPr id="4" name="AutoShape 4"/>
          <p:cNvSpPr/>
          <p:nvPr>
            <p:custDataLst>
              <p:tags r:id="rId2"/>
            </p:custDataLst>
          </p:nvPr>
        </p:nvSpPr>
        <p:spPr>
          <a:xfrm>
            <a:off x="762000" y="1778000"/>
            <a:ext cx="5207000" cy="2921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5" name="AutoShape 5"/>
          <p:cNvSpPr/>
          <p:nvPr>
            <p:custDataLst>
              <p:tags r:id="rId3"/>
            </p:custDataLst>
          </p:nvPr>
        </p:nvSpPr>
        <p:spPr>
          <a:xfrm>
            <a:off x="1016000" y="2032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Docker Compose 环境验证</a:t>
            </a:r>
            <a:endParaRPr lang="en-US" sz="1100"/>
          </a:p>
        </p:txBody>
      </p:sp>
      <p:sp>
        <p:nvSpPr>
          <p:cNvPr id="6" name="AutoShape 6"/>
          <p:cNvSpPr/>
          <p:nvPr>
            <p:custDataLst>
              <p:tags r:id="rId4"/>
            </p:custDataLst>
          </p:nvPr>
        </p:nvSpPr>
        <p:spPr>
          <a:xfrm>
            <a:off x="1016000" y="2603500"/>
            <a:ext cx="4699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人为停止 </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trade-service</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服务实例后：</a:t>
            </a:r>
            <a:endParaRPr lang="en-US" sz="1100"/>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交易接口触发熔断，返回 </a:t>
            </a:r>
            <a:r>
              <a:rPr lang="en-US" sz="14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503 + {" fallback " : true}</a:t>
            </a:r>
            <a:endParaRPr lang="en-US" sz="14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用户与生活服务健康检查保持 </a:t>
            </a: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200 OK</a:t>
            </a:r>
            <a:endPar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服务重启后快速恢复，无数据丢失或异常</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custDataLst>
              <p:tags r:id="rId5"/>
            </p:custDataLst>
          </p:nvPr>
        </p:nvSpPr>
        <p:spPr>
          <a:xfrm>
            <a:off x="6223000" y="1778000"/>
            <a:ext cx="5207000" cy="2921000"/>
          </a:xfrm>
          <a:prstGeom prst="roundRect">
            <a:avLst>
              <a:gd name="adj" fmla="val 0"/>
            </a:avLst>
          </a:prstGeom>
          <a:solidFill>
            <a:srgbClr val="FFFFFF">
              <a:alpha val="70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sp>
        <p:nvSpPr>
          <p:cNvPr id="8" name="AutoShape 8"/>
          <p:cNvSpPr/>
          <p:nvPr>
            <p:custDataLst>
              <p:tags r:id="rId6"/>
            </p:custDataLst>
          </p:nvPr>
        </p:nvSpPr>
        <p:spPr>
          <a:xfrm>
            <a:off x="6477000" y="2032000"/>
            <a:ext cx="4699000" cy="4445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20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Kubernetes 集群验证</a:t>
            </a:r>
            <a:endParaRPr lang="en-US" sz="1100"/>
          </a:p>
        </p:txBody>
      </p:sp>
      <p:sp>
        <p:nvSpPr>
          <p:cNvPr id="9" name="AutoShape 9"/>
          <p:cNvSpPr/>
          <p:nvPr>
            <p:custDataLst>
              <p:tags r:id="rId7"/>
            </p:custDataLst>
          </p:nvPr>
        </p:nvSpPr>
        <p:spPr>
          <a:xfrm>
            <a:off x="6477000" y="2603500"/>
            <a:ext cx="4699000" cy="1905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将 </a:t>
            </a:r>
            <a:r>
              <a:rPr lang="en-US" sz="1400" b="1"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food-master-trade</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副本数手动缩容至 0：</a:t>
            </a:r>
            <a:endParaRPr lang="en-US" sz="1100"/>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Nginx 网关层返回 </a:t>
            </a:r>
            <a:r>
              <a:rPr lang="en-US" sz="1400" b="1" i="0" u="none" strike="noStrike">
                <a:solidFill>
                  <a:srgbClr val="EF4444"/>
                </a:solidFill>
                <a:latin typeface="Noto Sans SC" panose="020B0200000000000000" charset="-122"/>
                <a:ea typeface="Noto Sans SC" panose="020B0200000000000000" charset="-122"/>
                <a:cs typeface="Noto Sans SC" panose="020B0200000000000000" charset="-122"/>
                <a:sym typeface="Noto Sans SC" panose="020B0200000000000000" charset="-122"/>
              </a:rPr>
              <a:t>503 Service Unavailable</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降级提示</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用户服务、生活服务及 BFF 就绪探针均为 </a:t>
            </a:r>
            <a:r>
              <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200</a:t>
            </a:r>
            <a:endParaRPr lang="en-US" sz="14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25000"/>
              </a:lnSpc>
            </a:pP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 故障未扩散，其他业务链路不受影响</a:t>
            </a:r>
            <a:endPar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4953000"/>
            <a:ext cx="10668000" cy="1397000"/>
          </a:xfrm>
          <a:prstGeom prst="roundRect">
            <a:avLst>
              <a:gd name="adj" fmla="val 0"/>
            </a:avLst>
          </a:prstGeom>
          <a:solidFill>
            <a:srgbClr val="22C55E">
              <a:alpha val="10000"/>
            </a:srgbClr>
          </a:solidFill>
          <a:ln w="12700" cap="flat" cmpd="sng">
            <a:solidFill>
              <a:srgbClr val="22C55E">
                <a:alpha val="4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5308600"/>
            <a:ext cx="457200" cy="457200"/>
          </a:xfrm>
          <a:prstGeom prst="rect">
            <a:avLst/>
          </a:prstGeom>
        </p:spPr>
      </p:pic>
      <p:sp>
        <p:nvSpPr>
          <p:cNvPr id="12" name="AutoShape 12"/>
          <p:cNvSpPr/>
          <p:nvPr/>
        </p:nvSpPr>
        <p:spPr>
          <a:xfrm>
            <a:off x="1651000" y="5181600"/>
            <a:ext cx="9525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结论：系统具备优异的故障隔离能力</a:t>
            </a:r>
            <a:endParaRPr lang="en-US" sz="1100"/>
          </a:p>
          <a:p>
            <a:pPr marL="0" indent="0" algn="l">
              <a:lnSpc>
                <a:spcPct val="117000"/>
              </a:lnSpc>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单点故障被有效隔离在对应业务路由内，未引发级联故障或服务雪崩，其他微服务与 BFF 组件运行稳定，充分验证了系统的高可用性与容错设计。</a:t>
            </a:r>
            <a:endPar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单体 vs 微服务性能对比</a:t>
            </a:r>
            <a:endParaRPr lang="en-US" sz="1100"/>
          </a:p>
        </p:txBody>
      </p:sp>
      <p:sp>
        <p:nvSpPr>
          <p:cNvPr id="4" name="AutoShape 4"/>
          <p:cNvSpPr/>
          <p:nvPr/>
        </p:nvSpPr>
        <p:spPr>
          <a:xfrm>
            <a:off x="762000" y="1524000"/>
            <a:ext cx="10668000" cy="508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在相同服务器配置与网络环境下，针对核心业务接口进行全链路压力测试，对比单体架构与微服务架构的吞吐量、响应时间及资源消耗表现。</a:t>
            </a:r>
            <a:endParaRPr lang="en-US" sz="1100"/>
          </a:p>
        </p:txBody>
      </p:sp>
      <p:sp>
        <p:nvSpPr>
          <p:cNvPr id="5" name="AutoShape 5"/>
          <p:cNvSpPr/>
          <p:nvPr>
            <p:custDataLst>
              <p:tags r:id="rId2"/>
            </p:custDataLst>
          </p:nvPr>
        </p:nvSpPr>
        <p:spPr>
          <a:xfrm>
            <a:off x="762000" y="2286000"/>
            <a:ext cx="3429000" cy="2413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custDataLst>
              <p:tags r:id="rId3"/>
            </p:custDataLst>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52500" y="2476500"/>
            <a:ext cx="304800" cy="304800"/>
          </a:xfrm>
          <a:prstGeom prst="rect">
            <a:avLst/>
          </a:prstGeom>
        </p:spPr>
      </p:pic>
      <p:sp>
        <p:nvSpPr>
          <p:cNvPr id="7" name="AutoShape 7"/>
          <p:cNvSpPr/>
          <p:nvPr>
            <p:custDataLst>
              <p:tags r:id="rId6"/>
            </p:custDataLst>
          </p:nvPr>
        </p:nvSpPr>
        <p:spPr>
          <a:xfrm>
            <a:off x="1333500" y="2438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美食列表接口</a:t>
            </a:r>
            <a:endParaRPr lang="en-US" sz="1100"/>
          </a:p>
        </p:txBody>
      </p:sp>
      <p:cxnSp>
        <p:nvCxnSpPr>
          <p:cNvPr id="8" name="Connector 8"/>
          <p:cNvCxnSpPr/>
          <p:nvPr>
            <p:custDataLst>
              <p:tags r:id="rId7"/>
            </p:custDataLst>
          </p:nvPr>
        </p:nvCxnSpPr>
        <p:spPr>
          <a:xfrm rot="-14323">
            <a:off x="952513" y="2940050"/>
            <a:ext cx="304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9" name="AutoShape 9"/>
          <p:cNvSpPr/>
          <p:nvPr>
            <p:custDataLst>
              <p:tags r:id="rId8"/>
            </p:custDataLst>
          </p:nvPr>
        </p:nvSpPr>
        <p:spPr>
          <a:xfrm>
            <a:off x="952500" y="3111500"/>
            <a:ext cx="304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单体：28–41 req/s，响应 283ms+</a:t>
            </a:r>
            <a:endParaRPr lang="en-US" sz="1100"/>
          </a:p>
          <a:p>
            <a:pPr marL="0" indent="0" algn="l">
              <a:lnSpc>
                <a:spcPct val="117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微服务：</a:t>
            </a: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230–293 req/s，响应 38ms+</a:t>
            </a:r>
            <a:endPar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1000"/>
              </a:spcBef>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   性能提升 7–10 倍</a:t>
            </a:r>
            <a:endPar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custDataLst>
              <p:tags r:id="rId9"/>
            </p:custDataLst>
          </p:nvPr>
        </p:nvSpPr>
        <p:spPr>
          <a:xfrm>
            <a:off x="4381500" y="2286000"/>
            <a:ext cx="3429000" cy="2413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custDataLst>
              <p:tags r:id="rId10"/>
            </p:custDataLst>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4572000" y="2476500"/>
            <a:ext cx="304800" cy="304800"/>
          </a:xfrm>
          <a:prstGeom prst="rect">
            <a:avLst/>
          </a:prstGeom>
        </p:spPr>
      </p:pic>
      <p:sp>
        <p:nvSpPr>
          <p:cNvPr id="12" name="AutoShape 12"/>
          <p:cNvSpPr/>
          <p:nvPr>
            <p:custDataLst>
              <p:tags r:id="rId13"/>
            </p:custDataLst>
          </p:nvPr>
        </p:nvSpPr>
        <p:spPr>
          <a:xfrm>
            <a:off x="4953000" y="2438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酒店列表接口</a:t>
            </a:r>
            <a:endParaRPr lang="en-US" sz="1100"/>
          </a:p>
        </p:txBody>
      </p:sp>
      <p:cxnSp>
        <p:nvCxnSpPr>
          <p:cNvPr id="13" name="Connector 13"/>
          <p:cNvCxnSpPr/>
          <p:nvPr>
            <p:custDataLst>
              <p:tags r:id="rId14"/>
            </p:custDataLst>
          </p:nvPr>
        </p:nvCxnSpPr>
        <p:spPr>
          <a:xfrm rot="-14323">
            <a:off x="4572013" y="2940050"/>
            <a:ext cx="304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4" name="AutoShape 14"/>
          <p:cNvSpPr/>
          <p:nvPr>
            <p:custDataLst>
              <p:tags r:id="rId15"/>
            </p:custDataLst>
          </p:nvPr>
        </p:nvSpPr>
        <p:spPr>
          <a:xfrm>
            <a:off x="4572000" y="3111500"/>
            <a:ext cx="304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单体：202–265 req/s</a:t>
            </a:r>
            <a:r>
              <a:rPr lang="zh-CN" alt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，响应</a:t>
            </a:r>
            <a:r>
              <a:rPr lang="en-US" altLang="zh-CN"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65ms+</a:t>
            </a:r>
            <a:endParaRPr lang="en-US" sz="1100"/>
          </a:p>
          <a:p>
            <a:pPr marL="0" indent="0" algn="l">
              <a:lnSpc>
                <a:spcPct val="117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微服务：</a:t>
            </a: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261–309 req/s</a:t>
            </a:r>
            <a:r>
              <a:rPr lang="zh-CN" alt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，响应</a:t>
            </a:r>
            <a:r>
              <a:rPr lang="en-US" altLang="zh-CN"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55ms+</a:t>
            </a:r>
            <a:endPar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1000"/>
              </a:spcBef>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   吞吐量提升 1.2–1.5 倍</a:t>
            </a:r>
            <a:endPar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custDataLst>
              <p:tags r:id="rId16"/>
            </p:custDataLst>
          </p:nvPr>
        </p:nvSpPr>
        <p:spPr>
          <a:xfrm>
            <a:off x="8001000" y="2286000"/>
            <a:ext cx="3429000" cy="2413000"/>
          </a:xfrm>
          <a:prstGeom prst="roundRect">
            <a:avLst>
              <a:gd name="adj" fmla="val 0"/>
            </a:avLst>
          </a:prstGeom>
          <a:solidFill>
            <a:srgbClr val="FFFFFF">
              <a:alpha val="7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custDataLst>
              <p:tags r:id="rId17"/>
            </p:custDataLst>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8191500" y="2476500"/>
            <a:ext cx="304800" cy="304800"/>
          </a:xfrm>
          <a:prstGeom prst="rect">
            <a:avLst/>
          </a:prstGeom>
        </p:spPr>
      </p:pic>
      <p:sp>
        <p:nvSpPr>
          <p:cNvPr id="17" name="AutoShape 17"/>
          <p:cNvSpPr/>
          <p:nvPr>
            <p:custDataLst>
              <p:tags r:id="rId20"/>
            </p:custDataLst>
          </p:nvPr>
        </p:nvSpPr>
        <p:spPr>
          <a:xfrm>
            <a:off x="8572500" y="2438400"/>
            <a:ext cx="2667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博客列表接口</a:t>
            </a:r>
            <a:endParaRPr lang="en-US" sz="1100"/>
          </a:p>
        </p:txBody>
      </p:sp>
      <p:cxnSp>
        <p:nvCxnSpPr>
          <p:cNvPr id="18" name="Connector 18"/>
          <p:cNvCxnSpPr/>
          <p:nvPr>
            <p:custDataLst>
              <p:tags r:id="rId21"/>
            </p:custDataLst>
          </p:nvPr>
        </p:nvCxnSpPr>
        <p:spPr>
          <a:xfrm rot="-14323">
            <a:off x="8191513" y="2940050"/>
            <a:ext cx="3048000" cy="12700"/>
          </a:xfrm>
          <a:prstGeom prst="straightConnector1">
            <a:avLst/>
          </a:prstGeom>
          <a:solidFill>
            <a:srgbClr val="DEE0E3">
              <a:alpha val="100000"/>
            </a:srgbClr>
          </a:solidFill>
          <a:ln w="12700" cap="flat" cmpd="sng">
            <a:solidFill>
              <a:srgbClr val="E5E7EB">
                <a:alpha val="100000"/>
              </a:srgbClr>
            </a:solidFill>
            <a:prstDash val="solid"/>
            <a:round/>
            <a:headEnd type="none" w="med" len="med"/>
            <a:tailEnd type="none" w="med" len="med"/>
          </a:ln>
        </p:spPr>
      </p:cxnSp>
      <p:sp>
        <p:nvSpPr>
          <p:cNvPr id="19" name="AutoShape 19"/>
          <p:cNvSpPr/>
          <p:nvPr>
            <p:custDataLst>
              <p:tags r:id="rId22"/>
            </p:custDataLst>
          </p:nvPr>
        </p:nvSpPr>
        <p:spPr>
          <a:xfrm>
            <a:off x="8191500" y="3111500"/>
            <a:ext cx="3048000" cy="1524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吞吐量：两者表现基本持平</a:t>
            </a:r>
            <a:endParaRPr lang="en-US" sz="1100"/>
          </a:p>
          <a:p>
            <a:pPr marL="0" indent="0" algn="l">
              <a:lnSpc>
                <a:spcPct val="117000"/>
              </a:lnSpc>
            </a:pPr>
            <a:r>
              <a:rPr lang="en-US" sz="1300" b="0" i="0" u="none" strike="noStrike">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rPr>
              <a:t>资源消耗：微服务内存占用</a:t>
            </a:r>
            <a:r>
              <a:rPr lang="en-US" sz="1600" b="1"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rPr>
              <a:t>↓ 57MB</a:t>
            </a:r>
            <a:endParaRPr lang="en-US" sz="1300" b="1" i="0" u="none" strike="noStrike">
              <a:solidFill>
                <a:srgbClr val="22C55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marL="0" indent="0" algn="l">
              <a:lnSpc>
                <a:spcPct val="117000"/>
              </a:lnSpc>
              <a:spcBef>
                <a:spcPts val="1000"/>
              </a:spcBef>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   资源利用率显著优化</a:t>
            </a:r>
            <a:endPar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762000" y="5016500"/>
            <a:ext cx="10668000" cy="1270000"/>
          </a:xfrm>
          <a:prstGeom prst="roundRect">
            <a:avLst>
              <a:gd name="adj" fmla="val 0"/>
            </a:avLst>
          </a:prstGeom>
          <a:solidFill>
            <a:srgbClr val="22C55E">
              <a:alpha val="8000"/>
            </a:srgbClr>
          </a:solidFill>
          <a:ln w="12700" cap="flat" cmpd="sng">
            <a:solidFill>
              <a:srgbClr val="22C55E">
                <a:alpha val="3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16000" y="5207000"/>
            <a:ext cx="254000" cy="254000"/>
          </a:xfrm>
          <a:prstGeom prst="rect">
            <a:avLst/>
          </a:prstGeom>
        </p:spPr>
      </p:pic>
      <p:sp>
        <p:nvSpPr>
          <p:cNvPr id="22" name="AutoShape 22"/>
          <p:cNvSpPr/>
          <p:nvPr/>
        </p:nvSpPr>
        <p:spPr>
          <a:xfrm>
            <a:off x="1397000" y="5207000"/>
            <a:ext cx="9906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1" i="0" u="none" strike="noStrike">
                <a:solidFill>
                  <a:srgbClr val="15803D"/>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核心结论：</a:t>
            </a:r>
            <a: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t> </a:t>
            </a:r>
            <a:r>
              <a:rPr lang="en-US" sz="1400" b="0" i="0" u="none" strike="noStrike">
                <a:solidFill>
                  <a:srgbClr val="374151"/>
                </a:solidFill>
                <a:latin typeface="Noto Sans SC" panose="020B0200000000000000" charset="-122"/>
                <a:ea typeface="Noto Sans SC" panose="020B0200000000000000" charset="-122"/>
                <a:cs typeface="Noto Sans SC" panose="020B0200000000000000" charset="-122"/>
                <a:sym typeface="Noto Sans SC" panose="020B0200000000000000" charset="-122"/>
              </a:rPr>
              <a:t>微服务架构在高并发场景下优势显著，通过服务拆分有效解决了单体架构的N+1查询瓶颈，大幅降低了系统响应延迟。即便在低负载场景下，其更低的内存占用也为系统的弹性伸缩和资源优化提供了更大空间，为业务的持续扩展奠定了坚实基础。</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03 总结与展望：项目成果总结</a:t>
            </a:r>
            <a:endParaRPr lang="en-US" sz="1100"/>
          </a:p>
        </p:txBody>
      </p:sp>
      <p:sp>
        <p:nvSpPr>
          <p:cNvPr id="4" name="AutoShape 4"/>
          <p:cNvSpPr/>
          <p:nvPr/>
        </p:nvSpPr>
        <p:spPr>
          <a:xfrm>
            <a:off x="762000" y="1778000"/>
            <a:ext cx="5207000" cy="1397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1968500"/>
            <a:ext cx="457200" cy="457200"/>
          </a:xfrm>
          <a:prstGeom prst="rect">
            <a:avLst/>
          </a:prstGeom>
        </p:spPr>
      </p:pic>
      <p:sp>
        <p:nvSpPr>
          <p:cNvPr id="6" name="AutoShape 6"/>
          <p:cNvSpPr/>
          <p:nvPr/>
        </p:nvSpPr>
        <p:spPr>
          <a:xfrm>
            <a:off x="1587500" y="1930400"/>
            <a:ext cx="4254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功能完备的综合服务平台</a:t>
            </a:r>
            <a:endParaRPr lang="en-US" sz="1100"/>
          </a:p>
        </p:txBody>
      </p:sp>
      <p:sp>
        <p:nvSpPr>
          <p:cNvPr id="7" name="AutoShape 7"/>
          <p:cNvSpPr/>
          <p:nvPr/>
        </p:nvSpPr>
        <p:spPr>
          <a:xfrm>
            <a:off x="1587500" y="2349500"/>
            <a:ext cx="4254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成功搭建覆盖9大核心业务用例的综合平台，实现从用户端到服务端的功能闭环，打造一站式生活服务生态基础。</a:t>
            </a:r>
            <a:endParaRPr lang="en-US" sz="1100"/>
          </a:p>
        </p:txBody>
      </p:sp>
      <p:sp>
        <p:nvSpPr>
          <p:cNvPr id="8" name="AutoShape 8"/>
          <p:cNvSpPr/>
          <p:nvPr/>
        </p:nvSpPr>
        <p:spPr>
          <a:xfrm>
            <a:off x="6223000" y="1778000"/>
            <a:ext cx="5207000" cy="1397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1968500"/>
            <a:ext cx="457200" cy="457200"/>
          </a:xfrm>
          <a:prstGeom prst="rect">
            <a:avLst/>
          </a:prstGeom>
        </p:spPr>
      </p:pic>
      <p:sp>
        <p:nvSpPr>
          <p:cNvPr id="10" name="AutoShape 10"/>
          <p:cNvSpPr/>
          <p:nvPr/>
        </p:nvSpPr>
        <p:spPr>
          <a:xfrm>
            <a:off x="7048500" y="1930400"/>
            <a:ext cx="4254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高内聚低耦合的微服务拆分</a:t>
            </a:r>
            <a:endParaRPr lang="en-US" sz="1100"/>
          </a:p>
        </p:txBody>
      </p:sp>
      <p:sp>
        <p:nvSpPr>
          <p:cNvPr id="11" name="AutoShape 11"/>
          <p:cNvSpPr/>
          <p:nvPr/>
        </p:nvSpPr>
        <p:spPr>
          <a:xfrm>
            <a:off x="7048500" y="2349500"/>
            <a:ext cx="4254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将单体应用解耦为3个独立业务微服务，设计基于RPC的高效通信机制，并完善服务容错与降级策略，提升系统扩展性。</a:t>
            </a:r>
            <a:endParaRPr lang="en-US" sz="1100"/>
          </a:p>
        </p:txBody>
      </p:sp>
      <p:sp>
        <p:nvSpPr>
          <p:cNvPr id="12" name="AutoShape 12"/>
          <p:cNvSpPr/>
          <p:nvPr/>
        </p:nvSpPr>
        <p:spPr>
          <a:xfrm>
            <a:off x="762000" y="3365500"/>
            <a:ext cx="5207000" cy="1397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556000"/>
            <a:ext cx="457200" cy="457200"/>
          </a:xfrm>
          <a:prstGeom prst="rect">
            <a:avLst/>
          </a:prstGeom>
        </p:spPr>
      </p:pic>
      <p:sp>
        <p:nvSpPr>
          <p:cNvPr id="14" name="AutoShape 14"/>
          <p:cNvSpPr/>
          <p:nvPr/>
        </p:nvSpPr>
        <p:spPr>
          <a:xfrm>
            <a:off x="1587500" y="3517900"/>
            <a:ext cx="4254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全方位自动化质量保障体系</a:t>
            </a:r>
            <a:endParaRPr lang="en-US" sz="1100"/>
          </a:p>
        </p:txBody>
      </p:sp>
      <p:sp>
        <p:nvSpPr>
          <p:cNvPr id="15" name="AutoShape 15"/>
          <p:cNvSpPr/>
          <p:nvPr/>
        </p:nvSpPr>
        <p:spPr>
          <a:xfrm>
            <a:off x="1587500" y="3937000"/>
            <a:ext cx="4254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构建覆盖单元、集成及端到端的自动化测试矩阵，有效拦截代码缺陷，确保业务逻辑的准确性与系统稳定性。</a:t>
            </a:r>
            <a:endParaRPr lang="en-US" sz="1100"/>
          </a:p>
        </p:txBody>
      </p:sp>
      <p:sp>
        <p:nvSpPr>
          <p:cNvPr id="16" name="AutoShape 16"/>
          <p:cNvSpPr/>
          <p:nvPr/>
        </p:nvSpPr>
        <p:spPr>
          <a:xfrm>
            <a:off x="6223000" y="3365500"/>
            <a:ext cx="5207000" cy="1397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3556000"/>
            <a:ext cx="457200" cy="457200"/>
          </a:xfrm>
          <a:prstGeom prst="rect">
            <a:avLst/>
          </a:prstGeom>
        </p:spPr>
      </p:pic>
      <p:sp>
        <p:nvSpPr>
          <p:cNvPr id="18" name="AutoShape 18"/>
          <p:cNvSpPr/>
          <p:nvPr/>
        </p:nvSpPr>
        <p:spPr>
          <a:xfrm>
            <a:off x="7048500" y="3517900"/>
            <a:ext cx="4254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云原生关键能力的实践验证</a:t>
            </a:r>
            <a:endParaRPr lang="en-US" sz="1100"/>
          </a:p>
        </p:txBody>
      </p:sp>
      <p:sp>
        <p:nvSpPr>
          <p:cNvPr id="19" name="AutoShape 19"/>
          <p:cNvSpPr/>
          <p:nvPr/>
        </p:nvSpPr>
        <p:spPr>
          <a:xfrm>
            <a:off x="7048500" y="3937000"/>
            <a:ext cx="4254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落地基于HPA的自动扩缩容能力，利用网关实现服务故障隔离与流量降级，保障系统在高并发场景下的高可用性。</a:t>
            </a:r>
            <a:endParaRPr lang="en-US" sz="1100"/>
          </a:p>
        </p:txBody>
      </p:sp>
      <p:sp>
        <p:nvSpPr>
          <p:cNvPr id="20" name="AutoShape 20"/>
          <p:cNvSpPr/>
          <p:nvPr/>
        </p:nvSpPr>
        <p:spPr>
          <a:xfrm>
            <a:off x="762000" y="4953000"/>
            <a:ext cx="5207000" cy="1397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143500"/>
            <a:ext cx="457200" cy="457200"/>
          </a:xfrm>
          <a:prstGeom prst="rect">
            <a:avLst/>
          </a:prstGeom>
        </p:spPr>
      </p:pic>
      <p:sp>
        <p:nvSpPr>
          <p:cNvPr id="22" name="AutoShape 22"/>
          <p:cNvSpPr/>
          <p:nvPr/>
        </p:nvSpPr>
        <p:spPr>
          <a:xfrm>
            <a:off x="1587500" y="5105400"/>
            <a:ext cx="4254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高效的CI/CD自动化交付流水线</a:t>
            </a:r>
            <a:endParaRPr lang="en-US" sz="1100"/>
          </a:p>
        </p:txBody>
      </p:sp>
      <p:sp>
        <p:nvSpPr>
          <p:cNvPr id="23" name="AutoShape 23"/>
          <p:cNvSpPr/>
          <p:nvPr/>
        </p:nvSpPr>
        <p:spPr>
          <a:xfrm>
            <a:off x="1587500" y="5524500"/>
            <a:ext cx="4254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打通从代码提交、自动构建、镜像推送至自动部署的全流程，实现分钟级交付，大幅提升研发迭代效率。</a:t>
            </a:r>
            <a:endParaRPr lang="en-US" sz="1100"/>
          </a:p>
        </p:txBody>
      </p:sp>
      <p:sp>
        <p:nvSpPr>
          <p:cNvPr id="24" name="AutoShape 24"/>
          <p:cNvSpPr/>
          <p:nvPr/>
        </p:nvSpPr>
        <p:spPr>
          <a:xfrm>
            <a:off x="6223000" y="4953000"/>
            <a:ext cx="5207000" cy="13970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5143500"/>
            <a:ext cx="457200" cy="457200"/>
          </a:xfrm>
          <a:prstGeom prst="rect">
            <a:avLst/>
          </a:prstGeom>
        </p:spPr>
      </p:pic>
      <p:sp>
        <p:nvSpPr>
          <p:cNvPr id="26" name="AutoShape 26"/>
          <p:cNvSpPr/>
          <p:nvPr/>
        </p:nvSpPr>
        <p:spPr>
          <a:xfrm>
            <a:off x="7048500" y="5105400"/>
            <a:ext cx="4254500" cy="3556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6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架构性能的深度对比与洞察</a:t>
            </a:r>
            <a:endParaRPr lang="en-US" sz="1100"/>
          </a:p>
        </p:txBody>
      </p:sp>
      <p:sp>
        <p:nvSpPr>
          <p:cNvPr id="27" name="AutoShape 27"/>
          <p:cNvSpPr/>
          <p:nvPr/>
        </p:nvSpPr>
        <p:spPr>
          <a:xfrm>
            <a:off x="7048500" y="5524500"/>
            <a:ext cx="4254500" cy="635000"/>
          </a:xfrm>
          <a:prstGeom prst="rect">
            <a:avLst/>
          </a:prstGeom>
          <a:noFill/>
          <a:ln w="12700" cap="flat" cmpd="sng">
            <a:noFill/>
            <a:prstDash val="solid"/>
            <a:round/>
          </a:ln>
        </p:spPr>
        <p:txBody>
          <a:bodyPr vert="horz" wrap="square" lIns="0" tIns="0" rIns="0" bIns="0" rtlCol="0" anchor="ctr" anchorCtr="0"/>
          <a:lstStyle/>
          <a:p>
            <a:pPr marL="0" indent="0" algn="l">
              <a:lnSpc>
                <a:spcPct val="108000"/>
              </a:lnSpc>
              <a:defRPr/>
            </a:pPr>
            <a:r>
              <a:rPr lang="en-US" sz="13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通过多维度性能压测与对比分析，清晰掌握微服务架构在不同场景下的性能表现，为后续架构优化提供数据支撑。</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FFFFFF">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32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待办事项与未来展望</a:t>
            </a:r>
            <a:endParaRPr lang="en-US" sz="1100"/>
          </a:p>
        </p:txBody>
      </p:sp>
      <p:sp>
        <p:nvSpPr>
          <p:cNvPr id="4" name="AutoShape 4"/>
          <p:cNvSpPr/>
          <p:nvPr/>
        </p:nvSpPr>
        <p:spPr>
          <a:xfrm>
            <a:off x="762000" y="1905000"/>
            <a:ext cx="5207000" cy="1968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159000"/>
            <a:ext cx="406400" cy="406400"/>
          </a:xfrm>
          <a:prstGeom prst="rect">
            <a:avLst/>
          </a:prstGeom>
        </p:spPr>
      </p:pic>
      <p:sp>
        <p:nvSpPr>
          <p:cNvPr id="6" name="AutoShape 6"/>
          <p:cNvSpPr/>
          <p:nvPr/>
        </p:nvSpPr>
        <p:spPr>
          <a:xfrm>
            <a:off x="1549400" y="2159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微服务端到端测试</a:t>
            </a:r>
            <a:endParaRPr lang="en-US" sz="1100"/>
          </a:p>
        </p:txBody>
      </p:sp>
      <p:sp>
        <p:nvSpPr>
          <p:cNvPr id="7" name="AutoShape 7"/>
          <p:cNvSpPr/>
          <p:nvPr/>
        </p:nvSpPr>
        <p:spPr>
          <a:xfrm>
            <a:off x="1016000" y="2730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补充直接通过API网关访问微服务的端到端回归测试，覆盖核心业务链路，确保服务间调用的稳定性与数据流转的准确性。</a:t>
            </a:r>
            <a:endParaRPr lang="en-US" sz="1100"/>
          </a:p>
        </p:txBody>
      </p:sp>
      <p:sp>
        <p:nvSpPr>
          <p:cNvPr id="8" name="AutoShape 8"/>
          <p:cNvSpPr/>
          <p:nvPr/>
        </p:nvSpPr>
        <p:spPr>
          <a:xfrm>
            <a:off x="6223000" y="1905000"/>
            <a:ext cx="5207000" cy="1968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159000"/>
            <a:ext cx="406400" cy="406400"/>
          </a:xfrm>
          <a:prstGeom prst="rect">
            <a:avLst/>
          </a:prstGeom>
        </p:spPr>
      </p:pic>
      <p:sp>
        <p:nvSpPr>
          <p:cNvPr id="10" name="AutoShape 10"/>
          <p:cNvSpPr/>
          <p:nvPr/>
        </p:nvSpPr>
        <p:spPr>
          <a:xfrm>
            <a:off x="7010400" y="2159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安全性增强</a:t>
            </a:r>
            <a:endParaRPr lang="en-US" sz="1100"/>
          </a:p>
        </p:txBody>
      </p:sp>
      <p:sp>
        <p:nvSpPr>
          <p:cNvPr id="11" name="AutoShape 11"/>
          <p:cNvSpPr/>
          <p:nvPr/>
        </p:nvSpPr>
        <p:spPr>
          <a:xfrm>
            <a:off x="6477000" y="2730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彻底清理演示环境中的敏感数据，强化密码哈希存储与传输加密，完善权限管控体系，防范潜在的信息泄露风险。</a:t>
            </a:r>
            <a:endParaRPr lang="en-US" sz="1100"/>
          </a:p>
        </p:txBody>
      </p:sp>
      <p:sp>
        <p:nvSpPr>
          <p:cNvPr id="12" name="AutoShape 12"/>
          <p:cNvSpPr/>
          <p:nvPr/>
        </p:nvSpPr>
        <p:spPr>
          <a:xfrm>
            <a:off x="762000" y="4191000"/>
            <a:ext cx="5207000" cy="1968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4445000"/>
            <a:ext cx="406400" cy="406400"/>
          </a:xfrm>
          <a:prstGeom prst="rect">
            <a:avLst/>
          </a:prstGeom>
        </p:spPr>
      </p:pic>
      <p:sp>
        <p:nvSpPr>
          <p:cNvPr id="14" name="AutoShape 14"/>
          <p:cNvSpPr/>
          <p:nvPr/>
        </p:nvSpPr>
        <p:spPr>
          <a:xfrm>
            <a:off x="1549400" y="4445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功能迭代升级</a:t>
            </a:r>
            <a:endParaRPr lang="en-US" sz="1100"/>
          </a:p>
        </p:txBody>
      </p:sp>
      <p:sp>
        <p:nvSpPr>
          <p:cNvPr id="15" name="AutoShape 15"/>
          <p:cNvSpPr/>
          <p:nvPr/>
        </p:nvSpPr>
        <p:spPr>
          <a:xfrm>
            <a:off x="1016000" y="5016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集成主流在线支付渠道，优化智能推荐算法以提升精准度，拓展更多业务场景，持续增强平台的商业价值与用户粘性。</a:t>
            </a:r>
            <a:endParaRPr lang="en-US" sz="1100"/>
          </a:p>
        </p:txBody>
      </p:sp>
      <p:sp>
        <p:nvSpPr>
          <p:cNvPr id="16" name="AutoShape 16"/>
          <p:cNvSpPr/>
          <p:nvPr/>
        </p:nvSpPr>
        <p:spPr>
          <a:xfrm>
            <a:off x="6223000" y="4191000"/>
            <a:ext cx="5207000" cy="1968500"/>
          </a:xfrm>
          <a:prstGeom prst="roundRect">
            <a:avLst>
              <a:gd name="adj" fmla="val 0"/>
            </a:avLst>
          </a:prstGeom>
          <a:solidFill>
            <a:srgbClr val="FFFFFF">
              <a:alpha val="60000"/>
            </a:srgbClr>
          </a:solidFill>
          <a:ln w="12700" cap="flat" cmpd="sng">
            <a:solidFill>
              <a:srgbClr val="22C55E">
                <a:alpha val="2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477000" y="4445000"/>
            <a:ext cx="406400" cy="406400"/>
          </a:xfrm>
          <a:prstGeom prst="rect">
            <a:avLst/>
          </a:prstGeom>
        </p:spPr>
      </p:pic>
      <p:sp>
        <p:nvSpPr>
          <p:cNvPr id="18" name="AutoShape 18"/>
          <p:cNvSpPr/>
          <p:nvPr/>
        </p:nvSpPr>
        <p:spPr>
          <a:xfrm>
            <a:off x="7010400" y="4445000"/>
            <a:ext cx="4191000" cy="381000"/>
          </a:xfrm>
          <a:prstGeom prst="rect">
            <a:avLst/>
          </a:prstGeom>
          <a:noFill/>
          <a:ln w="12700" cap="flat" cmpd="sng">
            <a:noFill/>
            <a:prstDash val="solid"/>
            <a:round/>
          </a:ln>
        </p:spPr>
        <p:txBody>
          <a:bodyPr vert="horz" wrap="square" lIns="0" tIns="0" rIns="0" bIns="0" rtlCol="0" anchor="ctr" anchorCtr="0"/>
          <a:lstStyle/>
          <a:p>
            <a:pPr marL="0" indent="0" algn="l">
              <a:lnSpc>
                <a:spcPct val="125000"/>
              </a:lnSpc>
              <a:defRPr/>
            </a:pPr>
            <a:r>
              <a:rPr lang="en-US" sz="1800" b="1" i="0" u="none" strike="noStrike">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rPr>
              <a:t>监控体系建设</a:t>
            </a:r>
            <a:endParaRPr lang="en-US" sz="1100"/>
          </a:p>
        </p:txBody>
      </p:sp>
      <p:sp>
        <p:nvSpPr>
          <p:cNvPr id="19" name="AutoShape 19"/>
          <p:cNvSpPr/>
          <p:nvPr/>
        </p:nvSpPr>
        <p:spPr>
          <a:xfrm>
            <a:off x="6477000" y="5016500"/>
            <a:ext cx="4699000" cy="1016000"/>
          </a:xfrm>
          <a:prstGeom prst="rect">
            <a:avLst/>
          </a:prstGeom>
          <a:noFill/>
          <a:ln w="12700" cap="flat" cmpd="sng">
            <a:noFill/>
            <a:prstDash val="solid"/>
            <a:round/>
          </a:ln>
        </p:spPr>
        <p:txBody>
          <a:bodyPr vert="horz" wrap="square" lIns="0" tIns="0" rIns="0" bIns="0" rtlCol="0" anchor="ctr" anchorCtr="0"/>
          <a:lstStyle/>
          <a:p>
            <a:pPr marL="0" indent="0" algn="l">
              <a:lnSpc>
                <a:spcPct val="117000"/>
              </a:lnSpc>
              <a:defRPr/>
            </a:pPr>
            <a:r>
              <a:rPr lang="en-US" sz="1400" b="0" i="0" u="none" strike="noStrike">
                <a:solidFill>
                  <a:srgbClr val="4B5563"/>
                </a:solidFill>
                <a:latin typeface="Noto Sans SC" panose="020B0200000000000000" charset="-122"/>
                <a:ea typeface="Noto Sans SC" panose="020B0200000000000000" charset="-122"/>
                <a:cs typeface="Noto Sans SC" panose="020B0200000000000000" charset="-122"/>
                <a:sym typeface="Noto Sans SC" panose="020B0200000000000000" charset="-122"/>
              </a:rPr>
              <a:t>部署Prometheus与Grafana搭建可视化监控平台，实现系统指标实时监控，建立多维度告警机制，保障系统稳定运行。</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3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2286000"/>
            <a:ext cx="12192000" cy="1524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4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Q&amp;A</a:t>
            </a:r>
            <a:endParaRPr lang="en-US" sz="1100"/>
          </a:p>
        </p:txBody>
      </p:sp>
      <p:sp>
        <p:nvSpPr>
          <p:cNvPr id="4" name="AutoShape 4"/>
          <p:cNvSpPr/>
          <p:nvPr/>
        </p:nvSpPr>
        <p:spPr>
          <a:xfrm>
            <a:off x="5588000" y="3937000"/>
            <a:ext cx="1016000" cy="50800"/>
          </a:xfrm>
          <a:prstGeom prst="roundRect">
            <a:avLst>
              <a:gd name="adj" fmla="val 0"/>
            </a:avLst>
          </a:prstGeom>
          <a:solidFill>
            <a:srgbClr val="22C55E">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0" y="4318000"/>
            <a:ext cx="12192000" cy="762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3200" b="0" i="0" u="none" strike="noStrike">
                <a:solidFill>
                  <a:srgbClr val="FFFFFF">
                    <a:alpha val="94902"/>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a:t>
            </a:r>
            <a:endParaRPr lang="en-US" sz="1100"/>
          </a:p>
        </p:txBody>
      </p:sp>
      <p:sp>
        <p:nvSpPr>
          <p:cNvPr id="6" name="AutoShape 6"/>
          <p:cNvSpPr/>
          <p:nvPr/>
        </p:nvSpPr>
        <p:spPr>
          <a:xfrm>
            <a:off x="0" y="5461000"/>
            <a:ext cx="12192000" cy="508000"/>
          </a:xfrm>
          <a:prstGeom prst="rect">
            <a:avLst/>
          </a:prstGeom>
          <a:noFill/>
          <a:ln w="12700" cap="flat" cmpd="sng">
            <a:noFill/>
            <a:prstDash val="solid"/>
            <a:round/>
          </a:ln>
        </p:spPr>
        <p:txBody>
          <a:bodyPr vert="horz" wrap="square" lIns="0" tIns="0" rIns="0" bIns="0" rtlCol="0" anchor="ctr" anchorCtr="0"/>
          <a:lstStyle/>
          <a:p>
            <a:pPr marL="0" indent="0" algn="ctr">
              <a:lnSpc>
                <a:spcPct val="125000"/>
              </a:lnSpc>
              <a:defRPr/>
            </a:pPr>
            <a:r>
              <a:rPr lang="en-US" sz="1600" b="0" i="0" u="none" strike="noStrike">
                <a:solidFill>
                  <a:srgbClr val="FFFFFF">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欢迎各位提问与交流，共同探索科技与未来的无限可能</a:t>
            </a:r>
            <a:endParaRPr lang="en-US" sz="1100"/>
          </a:p>
        </p:txBody>
      </p:sp>
      <p:pic>
        <p:nvPicPr>
          <p:cNvPr id="7" name="Picture 7"/>
          <p:cNvPicPr>
            <a:picLocks noChangeAspect="1"/>
          </p:cNvPicPr>
          <p:nvPr/>
        </p:nvPicPr>
        <p:blipFill>
          <a:blip r:embed="rId2"/>
          <a:stretch>
            <a:fillRect/>
          </a:stretch>
        </p:blipFill>
        <p:spPr>
          <a:xfrm>
            <a:off x="10668000" y="6190112"/>
            <a:ext cx="1524000" cy="667888"/>
          </a:xfrm>
          <a:prstGeom prst="rect">
            <a:avLst/>
          </a:prstGeom>
        </p:spPr>
      </p:pic>
    </p:spTree>
  </p:cSld>
  <p:clrMapOvr>
    <a:masterClrMapping/>
  </p:clrMapOvr>
</p:sld>
</file>

<file path=ppt/tags/tag1.xml><?xml version="1.0" encoding="utf-8"?>
<p:tagLst xmlns:p="http://schemas.openxmlformats.org/presentationml/2006/main">
  <p:tag name="KSO_WM_DIAGRAM_VIRTUALLY_FRAME" val="{&quot;height&quot;:230,&quot;left&quot;:60,&quot;top&quot;:140,&quot;width&quot;:840}"/>
</p:tagLst>
</file>

<file path=ppt/tags/tag2.xml><?xml version="1.0" encoding="utf-8"?>
<p:tagLst xmlns:p="http://schemas.openxmlformats.org/presentationml/2006/main">
  <p:tag name="KSO_WM_DIAGRAM_VIRTUALLY_FRAME" val="{&quot;height&quot;:230,&quot;left&quot;:60,&quot;top&quot;:140,&quot;width&quot;:840}"/>
</p:tagLst>
</file>

<file path=ppt/tags/tag3.xml><?xml version="1.0" encoding="utf-8"?>
<p:tagLst xmlns:p="http://schemas.openxmlformats.org/presentationml/2006/main">
  <p:tag name="KSO_WM_DIAGRAM_VIRTUALLY_FRAME" val="{&quot;height&quot;:230,&quot;left&quot;:60,&quot;top&quot;:140,&quot;width&quot;:840}"/>
</p:tagLst>
</file>

<file path=ppt/tags/tag4.xml><?xml version="1.0" encoding="utf-8"?>
<p:tagLst xmlns:p="http://schemas.openxmlformats.org/presentationml/2006/main">
  <p:tag name="KSO_WM_DIAGRAM_VIRTUALLY_FRAME" val="{&quot;height&quot;:230,&quot;left&quot;:60,&quot;top&quot;:140,&quot;width&quot;:840}"/>
</p:tagLst>
</file>

<file path=ppt/tags/tag5.xml><?xml version="1.0" encoding="utf-8"?>
<p:tagLst xmlns:p="http://schemas.openxmlformats.org/presentationml/2006/main">
  <p:tag name="KSO_WM_DIAGRAM_VIRTUALLY_FRAME" val="{&quot;height&quot;:230,&quot;left&quot;:60,&quot;top&quot;:140,&quot;width&quot;:840}"/>
</p:tagLst>
</file>

<file path=ppt/tags/tag6.xml><?xml version="1.0" encoding="utf-8"?>
<p:tagLst xmlns:p="http://schemas.openxmlformats.org/presentationml/2006/main">
  <p:tag name="KSO_WM_DIAGRAM_VIRTUALLY_FRAME" val="{&quot;height&quot;:230,&quot;left&quot;:60,&quot;top&quot;:140,&quot;width&quot;:840}"/>
</p:tagLst>
</file>

<file path=ppt/tags/tag7.xml><?xml version="1.0" encoding="utf-8"?>
<p:tagLst xmlns:p="http://schemas.openxmlformats.org/presentationml/2006/main">
  <p:tag name="KSO_WM_DIAGRAM_VIRTUALLY_FRAME" val="{&quot;height&quot;:230,&quot;left&quot;:60,&quot;top&quot;:140,&quot;width&quot;:840}"/>
</p:tagLst>
</file>

<file path=ppt/tags/tag8.xml><?xml version="1.0" encoding="utf-8"?>
<p:tagLst xmlns:p="http://schemas.openxmlformats.org/presentationml/2006/main">
  <p:tag name="KSO_WM_DIAGRAM_VIRTUALLY_FRAME" val="{&quot;height&quot;:230,&quot;left&quot;:60,&quot;top&quot;:140,&quot;width&quot;:840}"/>
</p:tagLst>
</file>

<file path=ppt/tags/tag9.xml><?xml version="1.0" encoding="utf-8"?>
<p:tagLst xmlns:p="http://schemas.openxmlformats.org/presentationml/2006/main">
  <p:tag name="KSO_WM_DIAGRAM_VIRTUALLY_FRAME" val="{&quot;height&quot;:230,&quot;left&quot;:60,&quot;top&quot;:140,&quot;width&quot;:840}"/>
</p:tagLst>
</file>

<file path=ppt/tags/tag10.xml><?xml version="1.0" encoding="utf-8"?>
<p:tagLst xmlns:p="http://schemas.openxmlformats.org/presentationml/2006/main">
  <p:tag name="KSO_WM_DIAGRAM_VIRTUALLY_FRAME" val="{&quot;height&quot;:230,&quot;left&quot;:60,&quot;top&quot;:140,&quot;width&quot;:840}"/>
</p:tagLst>
</file>

<file path=ppt/tags/tag11.xml><?xml version="1.0" encoding="utf-8"?>
<p:tagLst xmlns:p="http://schemas.openxmlformats.org/presentationml/2006/main">
  <p:tag name="KSO_WM_DIAGRAM_VIRTUALLY_FRAME" val="{&quot;height&quot;:252.15,&quot;left&quot;:60,&quot;top&quot;:140,&quot;width&quot;:840}"/>
</p:tagLst>
</file>

<file path=ppt/tags/tag12.xml><?xml version="1.0" encoding="utf-8"?>
<p:tagLst xmlns:p="http://schemas.openxmlformats.org/presentationml/2006/main">
  <p:tag name="KSO_WM_DIAGRAM_VIRTUALLY_FRAME" val="{&quot;height&quot;:252.15,&quot;left&quot;:60,&quot;top&quot;:140,&quot;width&quot;:840}"/>
</p:tagLst>
</file>

<file path=ppt/tags/tag13.xml><?xml version="1.0" encoding="utf-8"?>
<p:tagLst xmlns:p="http://schemas.openxmlformats.org/presentationml/2006/main">
  <p:tag name="KSO_WM_DIAGRAM_VIRTUALLY_FRAME" val="{&quot;height&quot;:252.15,&quot;left&quot;:60,&quot;top&quot;:140,&quot;width&quot;:840}"/>
</p:tagLst>
</file>

<file path=ppt/tags/tag14.xml><?xml version="1.0" encoding="utf-8"?>
<p:tagLst xmlns:p="http://schemas.openxmlformats.org/presentationml/2006/main">
  <p:tag name="KSO_WM_DIAGRAM_VIRTUALLY_FRAME" val="{&quot;height&quot;:252.15,&quot;left&quot;:60,&quot;top&quot;:140,&quot;width&quot;:840}"/>
</p:tagLst>
</file>

<file path=ppt/tags/tag15.xml><?xml version="1.0" encoding="utf-8"?>
<p:tagLst xmlns:p="http://schemas.openxmlformats.org/presentationml/2006/main">
  <p:tag name="KSO_WM_DIAGRAM_VIRTUALLY_FRAME" val="{&quot;height&quot;:252.15,&quot;left&quot;:60,&quot;top&quot;:140,&quot;width&quot;:840}"/>
</p:tagLst>
</file>

<file path=ppt/tags/tag16.xml><?xml version="1.0" encoding="utf-8"?>
<p:tagLst xmlns:p="http://schemas.openxmlformats.org/presentationml/2006/main">
  <p:tag name="KSO_WM_DIAGRAM_VIRTUALLY_FRAME" val="{&quot;height&quot;:252.15,&quot;left&quot;:60,&quot;top&quot;:140,&quot;width&quot;:840}"/>
</p:tagLst>
</file>

<file path=ppt/tags/tag17.xml><?xml version="1.0" encoding="utf-8"?>
<p:tagLst xmlns:p="http://schemas.openxmlformats.org/presentationml/2006/main">
  <p:tag name="KSO_WM_DIAGRAM_VIRTUALLY_FRAME" val="{&quot;height&quot;:252.15,&quot;left&quot;:60,&quot;top&quot;:140,&quot;width&quot;:840}"/>
</p:tagLst>
</file>

<file path=ppt/tags/tag18.xml><?xml version="1.0" encoding="utf-8"?>
<p:tagLst xmlns:p="http://schemas.openxmlformats.org/presentationml/2006/main">
  <p:tag name="KSO_WM_DIAGRAM_VIRTUALLY_FRAME" val="{&quot;height&quot;:252.15,&quot;left&quot;:60,&quot;top&quot;:140,&quot;width&quot;:840}"/>
</p:tagLst>
</file>

<file path=ppt/tags/tag19.xml><?xml version="1.0" encoding="utf-8"?>
<p:tagLst xmlns:p="http://schemas.openxmlformats.org/presentationml/2006/main">
  <p:tag name="KSO_WM_DIAGRAM_VIRTUALLY_FRAME" val="{&quot;height&quot;:252.15,&quot;left&quot;:60,&quot;top&quot;:140,&quot;width&quot;:840}"/>
</p:tagLst>
</file>

<file path=ppt/tags/tag20.xml><?xml version="1.0" encoding="utf-8"?>
<p:tagLst xmlns:p="http://schemas.openxmlformats.org/presentationml/2006/main">
  <p:tag name="KSO_WM_DIAGRAM_VIRTUALLY_FRAME" val="{&quot;height&quot;:252.15,&quot;left&quot;:60,&quot;top&quot;:140,&quot;width&quot;:840}"/>
</p:tagLst>
</file>

<file path=ppt/tags/tag21.xml><?xml version="1.0" encoding="utf-8"?>
<p:tagLst xmlns:p="http://schemas.openxmlformats.org/presentationml/2006/main">
  <p:tag name="KSO_WM_DIAGRAM_VIRTUALLY_FRAME" val="{&quot;height&quot;:252.15,&quot;left&quot;:60,&quot;top&quot;:140,&quot;width&quot;:840}"/>
</p:tagLst>
</file>

<file path=ppt/tags/tag22.xml><?xml version="1.0" encoding="utf-8"?>
<p:tagLst xmlns:p="http://schemas.openxmlformats.org/presentationml/2006/main">
  <p:tag name="KSO_WM_DIAGRAM_VIRTUALLY_FRAME" val="{&quot;height&quot;:252.15,&quot;left&quot;:60,&quot;top&quot;:140,&quot;width&quot;:840}"/>
</p:tagLst>
</file>

<file path=ppt/tags/tag23.xml><?xml version="1.0" encoding="utf-8"?>
<p:tagLst xmlns:p="http://schemas.openxmlformats.org/presentationml/2006/main">
  <p:tag name="KSO_WM_DIAGRAM_VIRTUALLY_FRAME" val="{&quot;height&quot;:252.15,&quot;left&quot;:60,&quot;top&quot;:140,&quot;width&quot;:840}"/>
</p:tagLst>
</file>

<file path=ppt/tags/tag24.xml><?xml version="1.0" encoding="utf-8"?>
<p:tagLst xmlns:p="http://schemas.openxmlformats.org/presentationml/2006/main">
  <p:tag name="KSO_WM_DIAGRAM_VIRTUALLY_FRAME" val="{&quot;height&quot;:252.15,&quot;left&quot;:60,&quot;top&quot;:140,&quot;width&quot;:840}"/>
</p:tagLst>
</file>

<file path=ppt/tags/tag25.xml><?xml version="1.0" encoding="utf-8"?>
<p:tagLst xmlns:p="http://schemas.openxmlformats.org/presentationml/2006/main">
  <p:tag name="KSO_WM_DIAGRAM_VIRTUALLY_FRAME" val="{&quot;height&quot;:252.15,&quot;left&quot;:60,&quot;top&quot;:140,&quot;width&quot;:840}"/>
</p:tagLst>
</file>

<file path=ppt/tags/tag26.xml><?xml version="1.0" encoding="utf-8"?>
<p:tagLst xmlns:p="http://schemas.openxmlformats.org/presentationml/2006/main">
  <p:tag name="KSO_WM_DIAGRAM_VIRTUALLY_FRAME" val="{&quot;height&quot;:252.15,&quot;left&quot;:60,&quot;top&quot;:140,&quot;width&quot;:840}"/>
</p:tagLst>
</file>

<file path=ppt/tags/tag27.xml><?xml version="1.0" encoding="utf-8"?>
<p:tagLst xmlns:p="http://schemas.openxmlformats.org/presentationml/2006/main">
  <p:tag name="KSO_WM_DIAGRAM_VIRTUALLY_FRAME" val="{&quot;height&quot;:252.15,&quot;left&quot;:60,&quot;top&quot;:140,&quot;width&quot;:840}"/>
</p:tagLst>
</file>

<file path=ppt/tags/tag28.xml><?xml version="1.0" encoding="utf-8"?>
<p:tagLst xmlns:p="http://schemas.openxmlformats.org/presentationml/2006/main">
  <p:tag name="KSO_WM_DIAGRAM_VIRTUALLY_FRAME" val="{&quot;height&quot;:252.15,&quot;left&quot;:60,&quot;top&quot;:140,&quot;width&quot;:840}"/>
</p:tagLst>
</file>

<file path=ppt/tags/tag29.xml><?xml version="1.0" encoding="utf-8"?>
<p:tagLst xmlns:p="http://schemas.openxmlformats.org/presentationml/2006/main">
  <p:tag name="KSO_WM_DIAGRAM_VIRTUALLY_FRAME" val="{&quot;height&quot;:230,&quot;left&quot;:60,&quot;top&quot;:140,&quot;width&quot;:840}"/>
</p:tagLst>
</file>

<file path=ppt/tags/tag30.xml><?xml version="1.0" encoding="utf-8"?>
<p:tagLst xmlns:p="http://schemas.openxmlformats.org/presentationml/2006/main">
  <p:tag name="KSO_WM_DIAGRAM_VIRTUALLY_FRAME" val="{&quot;height&quot;:230,&quot;left&quot;:60,&quot;top&quot;:140,&quot;width&quot;:840}"/>
</p:tagLst>
</file>

<file path=ppt/tags/tag31.xml><?xml version="1.0" encoding="utf-8"?>
<p:tagLst xmlns:p="http://schemas.openxmlformats.org/presentationml/2006/main">
  <p:tag name="KSO_WM_DIAGRAM_VIRTUALLY_FRAME" val="{&quot;height&quot;:230,&quot;left&quot;:60,&quot;top&quot;:140,&quot;width&quot;:840}"/>
</p:tagLst>
</file>

<file path=ppt/tags/tag32.xml><?xml version="1.0" encoding="utf-8"?>
<p:tagLst xmlns:p="http://schemas.openxmlformats.org/presentationml/2006/main">
  <p:tag name="KSO_WM_DIAGRAM_VIRTUALLY_FRAME" val="{&quot;height&quot;:230,&quot;left&quot;:60,&quot;top&quot;:140,&quot;width&quot;:840}"/>
</p:tagLst>
</file>

<file path=ppt/tags/tag33.xml><?xml version="1.0" encoding="utf-8"?>
<p:tagLst xmlns:p="http://schemas.openxmlformats.org/presentationml/2006/main">
  <p:tag name="KSO_WM_DIAGRAM_VIRTUALLY_FRAME" val="{&quot;height&quot;:230,&quot;left&quot;:60,&quot;top&quot;:140,&quot;width&quot;:840}"/>
</p:tagLst>
</file>

<file path=ppt/tags/tag34.xml><?xml version="1.0" encoding="utf-8"?>
<p:tagLst xmlns:p="http://schemas.openxmlformats.org/presentationml/2006/main">
  <p:tag name="KSO_WM_DIAGRAM_VIRTUALLY_FRAME" val="{&quot;height&quot;:230,&quot;left&quot;:60,&quot;top&quot;:140,&quot;width&quot;:840}"/>
</p:tagLst>
</file>

<file path=ppt/tags/tag35.xml><?xml version="1.0" encoding="utf-8"?>
<p:tagLst xmlns:p="http://schemas.openxmlformats.org/presentationml/2006/main">
  <p:tag name="KSO_WM_DIAGRAM_VIRTUALLY_FRAME" val="{&quot;height&quot;:190,&quot;left&quot;:60,&quot;top&quot;:180,&quot;width&quot;:840}"/>
</p:tagLst>
</file>

<file path=ppt/tags/tag36.xml><?xml version="1.0" encoding="utf-8"?>
<p:tagLst xmlns:p="http://schemas.openxmlformats.org/presentationml/2006/main">
  <p:tag name="KSO_WM_DIAGRAM_VIRTUALLY_FRAME" val="{&quot;height&quot;:190,&quot;left&quot;:60,&quot;top&quot;:180,&quot;width&quot;:840}"/>
</p:tagLst>
</file>

<file path=ppt/tags/tag37.xml><?xml version="1.0" encoding="utf-8"?>
<p:tagLst xmlns:p="http://schemas.openxmlformats.org/presentationml/2006/main">
  <p:tag name="KSO_WM_DIAGRAM_VIRTUALLY_FRAME" val="{&quot;height&quot;:190,&quot;left&quot;:60,&quot;top&quot;:180,&quot;width&quot;:840}"/>
</p:tagLst>
</file>

<file path=ppt/tags/tag38.xml><?xml version="1.0" encoding="utf-8"?>
<p:tagLst xmlns:p="http://schemas.openxmlformats.org/presentationml/2006/main">
  <p:tag name="KSO_WM_DIAGRAM_VIRTUALLY_FRAME" val="{&quot;height&quot;:190,&quot;left&quot;:60,&quot;top&quot;:180,&quot;width&quot;:840}"/>
</p:tagLst>
</file>

<file path=ppt/tags/tag39.xml><?xml version="1.0" encoding="utf-8"?>
<p:tagLst xmlns:p="http://schemas.openxmlformats.org/presentationml/2006/main">
  <p:tag name="KSO_WM_DIAGRAM_VIRTUALLY_FRAME" val="{&quot;height&quot;:190,&quot;left&quot;:60,&quot;top&quot;:180,&quot;width&quot;:840}"/>
</p:tagLst>
</file>

<file path=ppt/tags/tag40.xml><?xml version="1.0" encoding="utf-8"?>
<p:tagLst xmlns:p="http://schemas.openxmlformats.org/presentationml/2006/main">
  <p:tag name="KSO_WM_DIAGRAM_VIRTUALLY_FRAME" val="{&quot;height&quot;:190,&quot;left&quot;:60,&quot;top&quot;:180,&quot;width&quot;:840}"/>
</p:tagLst>
</file>

<file path=ppt/tags/tag41.xml><?xml version="1.0" encoding="utf-8"?>
<p:tagLst xmlns:p="http://schemas.openxmlformats.org/presentationml/2006/main">
  <p:tag name="KSO_WM_DIAGRAM_VIRTUALLY_FRAME" val="{&quot;height&quot;:190,&quot;left&quot;:60,&quot;top&quot;:180,&quot;width&quot;:840}"/>
</p:tagLst>
</file>

<file path=ppt/tags/tag42.xml><?xml version="1.0" encoding="utf-8"?>
<p:tagLst xmlns:p="http://schemas.openxmlformats.org/presentationml/2006/main">
  <p:tag name="KSO_WM_DIAGRAM_VIRTUALLY_FRAME" val="{&quot;height&quot;:190,&quot;left&quot;:60,&quot;top&quot;:180,&quot;width&quot;:840}"/>
</p:tagLst>
</file>

<file path=ppt/tags/tag43.xml><?xml version="1.0" encoding="utf-8"?>
<p:tagLst xmlns:p="http://schemas.openxmlformats.org/presentationml/2006/main">
  <p:tag name="KSO_WM_DIAGRAM_VIRTUALLY_FRAME" val="{&quot;height&quot;:190,&quot;left&quot;:60,&quot;top&quot;:180,&quot;width&quot;:840}"/>
</p:tagLst>
</file>

<file path=ppt/tags/tag44.xml><?xml version="1.0" encoding="utf-8"?>
<p:tagLst xmlns:p="http://schemas.openxmlformats.org/presentationml/2006/main">
  <p:tag name="KSO_WM_DIAGRAM_VIRTUALLY_FRAME" val="{&quot;height&quot;:190,&quot;left&quot;:60,&quot;top&quot;:180,&quot;width&quot;:840}"/>
</p:tagLst>
</file>

<file path=ppt/tags/tag45.xml><?xml version="1.0" encoding="utf-8"?>
<p:tagLst xmlns:p="http://schemas.openxmlformats.org/presentationml/2006/main">
  <p:tag name="KSO_WM_DIAGRAM_VIRTUALLY_FRAME" val="{&quot;height&quot;:190,&quot;left&quot;:60,&quot;top&quot;:180,&quot;width&quot;:840}"/>
</p:tagLst>
</file>

<file path=ppt/tags/tag46.xml><?xml version="1.0" encoding="utf-8"?>
<p:tagLst xmlns:p="http://schemas.openxmlformats.org/presentationml/2006/main">
  <p:tag name="KSO_WM_DIAGRAM_VIRTUALLY_FRAME" val="{&quot;height&quot;:190,&quot;left&quot;:60,&quot;top&quot;:180,&quot;width&quot;:840}"/>
</p:tagLst>
</file>

<file path=ppt/tags/tag47.xml><?xml version="1.0" encoding="utf-8"?>
<p:tagLst xmlns:p="http://schemas.openxmlformats.org/presentationml/2006/main">
  <p:tag name="KSO_WM_DIAGRAM_VIRTUALLY_FRAME" val="{&quot;height&quot;:190,&quot;left&quot;:60,&quot;top&quot;:180,&quot;width&quot;:840}"/>
</p:tagLst>
</file>

<file path=ppt/tags/tag48.xml><?xml version="1.0" encoding="utf-8"?>
<p:tagLst xmlns:p="http://schemas.openxmlformats.org/presentationml/2006/main">
  <p:tag name="KSO_WM_DIAGRAM_VIRTUALLY_FRAME" val="{&quot;height&quot;:190,&quot;left&quot;:60,&quot;top&quot;:180,&quot;width&quot;:840}"/>
</p:tagLst>
</file>

<file path=ppt/tags/tag49.xml><?xml version="1.0" encoding="utf-8"?>
<p:tagLst xmlns:p="http://schemas.openxmlformats.org/presentationml/2006/main">
  <p:tag name="KSO_WM_DIAGRAM_VIRTUALLY_FRAME" val="{&quot;height&quot;:190,&quot;left&quot;:60,&quot;top&quot;:180,&quot;width&quot;:840}"/>
</p:tagLst>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7095</Words>
  <Application>WPS 演示</Application>
  <PresentationFormat/>
  <Paragraphs>488</Paragraphs>
  <Slides>20</Slides>
  <Notes>0</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20</vt:i4>
      </vt:variant>
    </vt:vector>
  </HeadingPairs>
  <TitlesOfParts>
    <vt:vector size="29" baseType="lpstr">
      <vt:lpstr>Arial</vt:lpstr>
      <vt:lpstr>宋体</vt:lpstr>
      <vt:lpstr>Wingdings</vt:lpstr>
      <vt:lpstr>Arial</vt:lpstr>
      <vt:lpstr>Noto Sans SC</vt:lpstr>
      <vt:lpstr>微软雅黑</vt:lpstr>
      <vt:lpstr>Arial Unicode MS</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曾文景</cp:lastModifiedBy>
  <cp:revision>3</cp:revision>
  <dcterms:created xsi:type="dcterms:W3CDTF">2026-09-03T07:23:00Z</dcterms:created>
  <dcterms:modified xsi:type="dcterms:W3CDTF">2026-09-03T07:29:31Z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{"Label":"1","ContentProducer":"001191110102MACQD9K64010000","ProduceID":"7681205224191380434","ReservedCode1":"","ContentPropagator":"","PropagateID":"","ReservedCode2":""}</vt:lpwstr>
  </property>
  <property fmtid="{D5CDD505-2E9C-101B-9397-08002B2CF9AE}" pid="3" name="KSOProductBuildVer">
    <vt:lpwstr>2052-12.1.0.28043</vt:lpwstr>
  </property>
  <property fmtid="{D5CDD505-2E9C-101B-9397-08002B2CF9AE}" pid="4" name="ICV">
    <vt:lpwstr>E0F83857B76A41368C380BBEE137B420_12</vt:lpwstr>
  </property>
</Properties>
</file>